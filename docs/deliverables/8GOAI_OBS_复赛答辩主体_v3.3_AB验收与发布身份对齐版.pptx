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8711bd68024ded" /><Relationship Type="http://schemas.openxmlformats.org/officeDocument/2006/relationships/extended-properties" Target="/docProps/app.xml" Id="R68b2ace9c9fb4d13" /><Relationship Type="http://schemas.openxmlformats.org/officeDocument/2006/relationships/officeDocument" Target="/ppt/presentation.xml" Id="Rf0cdf76f768c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de08094504900"/>
  </p:sldMasterIdLst>
  <p:notesMasterIdLst>
    <p:notesMasterId xmlns:r="http://schemas.openxmlformats.org/officeDocument/2006/relationships" r:id="Rb5f9936b70a24f95"/>
  </p:notesMasterIdLst>
  <p:sldIdLst>
    <p:sldId xmlns:r="http://schemas.openxmlformats.org/officeDocument/2006/relationships" id="256" r:id="Rd8794da910ec49ed"/>
    <p:sldId xmlns:r="http://schemas.openxmlformats.org/officeDocument/2006/relationships" id="257" r:id="Rc70f4fd028fd4901"/>
    <p:sldId xmlns:r="http://schemas.openxmlformats.org/officeDocument/2006/relationships" id="258" r:id="Rb946781cd81e45cb"/>
    <p:sldId xmlns:r="http://schemas.openxmlformats.org/officeDocument/2006/relationships" id="259" r:id="R298cebf876a34784"/>
    <p:sldId xmlns:r="http://schemas.openxmlformats.org/officeDocument/2006/relationships" id="260" r:id="Rfaaf89853ad545a5"/>
    <p:sldId xmlns:r="http://schemas.openxmlformats.org/officeDocument/2006/relationships" id="261" r:id="R095539e621af4bb6"/>
    <p:sldId xmlns:r="http://schemas.openxmlformats.org/officeDocument/2006/relationships" id="262" r:id="Rf1cdfa22440f4225"/>
    <p:sldId xmlns:r="http://schemas.openxmlformats.org/officeDocument/2006/relationships" id="263" r:id="R651b92c3c0e140e6"/>
    <p:sldId xmlns:r="http://schemas.openxmlformats.org/officeDocument/2006/relationships" id="264" r:id="R4bda9151f9e74ea6"/>
    <p:sldId xmlns:r="http://schemas.openxmlformats.org/officeDocument/2006/relationships" id="265" r:id="R1241412130a64618"/>
    <p:sldId xmlns:r="http://schemas.openxmlformats.org/officeDocument/2006/relationships" id="266" r:id="R691814af4a1541d6"/>
    <p:sldId xmlns:r="http://schemas.openxmlformats.org/officeDocument/2006/relationships" id="267" r:id="Re70e5c8f5dec469a"/>
    <p:sldId xmlns:r="http://schemas.openxmlformats.org/officeDocument/2006/relationships" id="268" r:id="Rad9992eee5b6414e"/>
    <p:sldId xmlns:r="http://schemas.openxmlformats.org/officeDocument/2006/relationships" id="269" r:id="Re3753be533d447c9"/>
    <p:sldId xmlns:r="http://schemas.openxmlformats.org/officeDocument/2006/relationships" id="270" r:id="R67de4f7c6747435f"/>
    <p:sldId xmlns:r="http://schemas.openxmlformats.org/officeDocument/2006/relationships" id="271" r:id="R5b5b003beac94f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7a3c85068646c6" /><Relationship Type="http://schemas.openxmlformats.org/officeDocument/2006/relationships/slideMaster" Target="/ppt/slideMasters/slideMaster1.xml" Id="R17fde08094504900" /><Relationship Type="http://schemas.openxmlformats.org/officeDocument/2006/relationships/notesMaster" Target="/ppt/notesMasters/notesMaster1.xml" Id="Rb5f9936b70a24f95" /><Relationship Type="http://schemas.openxmlformats.org/officeDocument/2006/relationships/presProps" Target="/ppt/presProps.xml" Id="R7db2bba166744e4d" /><Relationship Type="http://schemas.openxmlformats.org/officeDocument/2006/relationships/viewProps" Target="/ppt/viewProps.xml" Id="R9115c40ed9a844f9" /><Relationship Type="http://schemas.openxmlformats.org/officeDocument/2006/relationships/tableStyles" Target="/ppt/tableStyles.xml" Id="R3ee9337ee3ae4fd4" /><Relationship Type="http://schemas.openxmlformats.org/officeDocument/2006/relationships/slide" Target="/ppt/slides/slide1.xml" Id="Rd8794da910ec49ed" /><Relationship Type="http://schemas.openxmlformats.org/officeDocument/2006/relationships/slide" Target="/ppt/slides/slide2.xml" Id="Rc70f4fd028fd4901" /><Relationship Type="http://schemas.openxmlformats.org/officeDocument/2006/relationships/slide" Target="/ppt/slides/slide3.xml" Id="Rb946781cd81e45cb" /><Relationship Type="http://schemas.openxmlformats.org/officeDocument/2006/relationships/slide" Target="/ppt/slides/slide4.xml" Id="R298cebf876a34784" /><Relationship Type="http://schemas.openxmlformats.org/officeDocument/2006/relationships/slide" Target="/ppt/slides/slide5.xml" Id="Rfaaf89853ad545a5" /><Relationship Type="http://schemas.openxmlformats.org/officeDocument/2006/relationships/slide" Target="/ppt/slides/slide6.xml" Id="R095539e621af4bb6" /><Relationship Type="http://schemas.openxmlformats.org/officeDocument/2006/relationships/slide" Target="/ppt/slides/slide7.xml" Id="Rf1cdfa22440f4225" /><Relationship Type="http://schemas.openxmlformats.org/officeDocument/2006/relationships/slide" Target="/ppt/slides/slide8.xml" Id="R651b92c3c0e140e6" /><Relationship Type="http://schemas.openxmlformats.org/officeDocument/2006/relationships/slide" Target="/ppt/slides/slide9.xml" Id="R4bda9151f9e74ea6" /><Relationship Type="http://schemas.openxmlformats.org/officeDocument/2006/relationships/slide" Target="/ppt/slides/slide10.xml" Id="R1241412130a64618" /><Relationship Type="http://schemas.openxmlformats.org/officeDocument/2006/relationships/slide" Target="/ppt/slides/slide11.xml" Id="R691814af4a1541d6" /><Relationship Type="http://schemas.openxmlformats.org/officeDocument/2006/relationships/slide" Target="/ppt/slides/slide12.xml" Id="Re70e5c8f5dec469a" /><Relationship Type="http://schemas.openxmlformats.org/officeDocument/2006/relationships/slide" Target="/ppt/slides/slide13.xml" Id="Rad9992eee5b6414e" /><Relationship Type="http://schemas.openxmlformats.org/officeDocument/2006/relationships/slide" Target="/ppt/slides/slide14.xml" Id="Re3753be533d447c9" /><Relationship Type="http://schemas.openxmlformats.org/officeDocument/2006/relationships/slide" Target="/ppt/slides/slide15.xml" Id="R67de4f7c6747435f" /><Relationship Type="http://schemas.openxmlformats.org/officeDocument/2006/relationships/slide" Target="/ppt/slides/slide16.xml" Id="R5b5b003beac9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de0243128444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b2205d265b4f6e" /><Relationship Type="http://schemas.openxmlformats.org/officeDocument/2006/relationships/notesMaster" Target="/ppt/notesMasters/notesMaster1.xml" Id="R5b84425282974e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6a318c6bac4155" /><Relationship Type="http://schemas.openxmlformats.org/officeDocument/2006/relationships/notesMaster" Target="/ppt/notesMasters/notesMaster1.xml" Id="R666bc9c005cf40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c437323b584824" /><Relationship Type="http://schemas.openxmlformats.org/officeDocument/2006/relationships/notesMaster" Target="/ppt/notesMasters/notesMaster1.xml" Id="Ra4421351f4c743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08200b5cd444ff" /><Relationship Type="http://schemas.openxmlformats.org/officeDocument/2006/relationships/notesMaster" Target="/ppt/notesMasters/notesMaster1.xml" Id="Ra3c7d850681343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d5498e1c954b59" /><Relationship Type="http://schemas.openxmlformats.org/officeDocument/2006/relationships/notesMaster" Target="/ppt/notesMasters/notesMaster1.xml" Id="R99643f48bb7444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3f850210664f4f" /><Relationship Type="http://schemas.openxmlformats.org/officeDocument/2006/relationships/notesMaster" Target="/ppt/notesMasters/notesMaster1.xml" Id="R1cf56c83cec94e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dfa3b01846402b" /><Relationship Type="http://schemas.openxmlformats.org/officeDocument/2006/relationships/notesMaster" Target="/ppt/notesMasters/notesMaster1.xml" Id="R59f8bafc4da34f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63e2c123104d68" /><Relationship Type="http://schemas.openxmlformats.org/officeDocument/2006/relationships/notesMaster" Target="/ppt/notesMasters/notesMaster1.xml" Id="R4d35557b203f43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18f58e5c844215" /><Relationship Type="http://schemas.openxmlformats.org/officeDocument/2006/relationships/notesMaster" Target="/ppt/notesMasters/notesMaster1.xml" Id="R5242250df2a64d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a26a37b3944e2b" /><Relationship Type="http://schemas.openxmlformats.org/officeDocument/2006/relationships/notesMaster" Target="/ppt/notesMasters/notesMaster1.xml" Id="R0432896499bf4d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a5b307cd61418a" /><Relationship Type="http://schemas.openxmlformats.org/officeDocument/2006/relationships/notesMaster" Target="/ppt/notesMasters/notesMaster1.xml" Id="R555ae4f7371249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b6a69d16a64bd6" /><Relationship Type="http://schemas.openxmlformats.org/officeDocument/2006/relationships/notesMaster" Target="/ppt/notesMasters/notesMaster1.xml" Id="R52ab6d49114a4b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1d59ece35443c1" /><Relationship Type="http://schemas.openxmlformats.org/officeDocument/2006/relationships/notesMaster" Target="/ppt/notesMasters/notesMaster1.xml" Id="R28e1225f16bc40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e0163600e3402a" /><Relationship Type="http://schemas.openxmlformats.org/officeDocument/2006/relationships/notesMaster" Target="/ppt/notesMasters/notesMaster1.xml" Id="R55bd94fefb8e4c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646b8a7fd5478e" /><Relationship Type="http://schemas.openxmlformats.org/officeDocument/2006/relationships/notesMaster" Target="/ppt/notesMasters/notesMaster1.xml" Id="Rf464b0a1d25d4d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62f481ed404b7c" /><Relationship Type="http://schemas.openxmlformats.org/officeDocument/2006/relationships/notesMaster" Target="/ppt/notesMasters/notesMaster1.xml" Id="Rccd859130ef0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封面数字来自 EXP16 与 EXP17 最终冻结结果。​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RQ2 为 policy ceiling 诊断后形成的派生研究问题。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Review CI 为 Trust−Random @50%；Safety 为配对 station-cluster bootstrap。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EXP16 全量 Review Budget–Error Interception Curve。</a:t>
            </a:r>
          </a:p>
          <a:p xmlns:a="http://schemas.openxmlformats.org/drawingml/2006/main">
            <a:r>
              <a:t>- 50% baselines: Random 50.0%, ModelConf 59.9%, Disagreement 56.3%。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EXP16 holdout Primary evaluation universe: n=260, errors=161。</a:t>
            </a:r>
          </a:p>
          <a:p xmlns:a="http://schemas.openxmlformats.org/drawingml/2006/main">
            <a:r>
              <a:t>- 358 为全部 manifest holdout，不能与正式 eligible subset 混用。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Policy ceiling reason decomposition: 703 / 487 / 112 / 57。</a:t>
            </a:r>
          </a:p>
          <a:p xmlns:a="http://schemas.openxmlformats.org/drawingml/2006/main">
            <a:r>
              <a:t>- 312 与 89 是 retrospective truth-based diagnosis，禁止进入 routing。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EXP17-A: Coverage 54.13%, Unsafe 5.51%, Error Interception 94.26%。</a:t>
            </a:r>
          </a:p>
          <a:p xmlns:a="http://schemas.openxmlformats.org/drawingml/2006/main">
            <a:r>
              <a:t>- Paired station-cluster bootstrap one-sided upper +2.24pp; CI-level non-inferiority not established。​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Scientific Claim reports final EXP17-A values and does not claim CI-level safety non-inferiority。​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Closing statement synthesizes the frozen result hierarchy。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v1.5.1 frozen result: 596 valid outputs, Coverage 45.64%, Unsafe 6.04%。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EXP17 protocol is post-hoc and failure-driven; it is not an original predeclared experiment。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EXP17-A uses truth-blind inference-time evidence; no current evaluation truth enters routing。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Retained representative v1.5.1 shared-error case: XO.LT04..HH.2018.07.12.08.32.02。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EXP17-B: Coverage 81.62%, c2 upper +4.87pp fail, c3 64.55% fail; rejected。</a:t>
            </a:r>
          </a:p>
          <a:p xmlns:a="http://schemas.openxmlformats.org/drawingml/2006/main">
            <a:r>
              <a:t>- Final audit: P=.34s/S=.51s from calibration; legacy .30/.50 fallback did not enter the frozen path。​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Explicit-parameter rerun exactly reproduced 54.13% / 5.51% / 94.26%, with upper +2.24pp and 76/76 tests passed。​</a:t>
            </a:r>
          </a:p>
          <a:p xmlns:a="http://schemas.openxmlformats.org/drawingml/2006/main">
            <a:r>
              <a:t>- https://zenodo.org/records/10277799 — OBS/PickBlue dataset, DOI and CC BY 4.0 metadata.</a:t>
            </a:r>
          </a:p>
          <a:p xmlns:a="http://schemas.openxmlformats.org/drawingml/2006/main">
            <a:r>
              <a:t>- https://github.com/seisbench/seisbench — SeisBench GPL-3.0 dependency.</a:t>
            </a:r>
          </a:p>
          <a:p xmlns:a="http://schemas.openxmlformats.org/drawingml/2006/main">
            <a:r>
              <a:t>- THIRD_PARTY_NOTICES.md — checkpoint redistribution and license boundaries.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/Users/capl3nkiya/.codex/.chatgpt-projects/g-p-6a5ad9c5ad28819184fb74b98d40ec43/outputs/9c 部分 GOAI_OBS_科研边界与实验契约_v1.9_AB验收与发布身份对齐版.docx</a:t>
            </a:r>
          </a:p>
          <a:p xmlns:a="http://schemas.openxmlformats.org/drawingml/2006/main">
            <a:r>
              <a:t>- /Users/capl3nkiya/Desktop/深海探测/3GOAI_OBS_复赛答辩主体_v2_EXP17阶段冻结版.pptx</a:t>
            </a:r>
          </a:p>
          <a:p xmlns:a="http://schemas.openxmlformats.org/drawingml/2006/main">
            <a:r>
              <a:t>- No-Go retains the post-hoc EXP17 boundary; larger samples are still required for CI-level non-inferiority。​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ce76ac1fa42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cc415f3e5a4984" /><Relationship Type="http://schemas.openxmlformats.org/officeDocument/2006/relationships/slideLayout" Target="/ppt/slideLayouts/slideLayout1.xml" Id="R2d55e22fb4af47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5e22fb4af47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16855350b498f" /><Relationship Type="http://schemas.openxmlformats.org/officeDocument/2006/relationships/notesSlide" Target="/ppt/notesSlides/notesSlide1.xml" Id="R1a1c4830860148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b54f3bcd6414d" /><Relationship Type="http://schemas.openxmlformats.org/officeDocument/2006/relationships/notesSlide" Target="/ppt/notesSlides/notesSlide2.xml" Id="R1d9ca551eb694a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f497849544633" /><Relationship Type="http://schemas.openxmlformats.org/officeDocument/2006/relationships/notesSlide" Target="/ppt/notesSlides/notesSlide3.xml" Id="R1ce81880f51541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b2d6063f84604" /><Relationship Type="http://schemas.openxmlformats.org/officeDocument/2006/relationships/chart" Target="/ppt/slides/charts/chart1.xml" Id="R63e345aa7e9c4763" /><Relationship Type="http://schemas.openxmlformats.org/officeDocument/2006/relationships/notesSlide" Target="/ppt/notesSlides/notesSlide4.xml" Id="R80c80efe491e44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035f325074042" /><Relationship Type="http://schemas.openxmlformats.org/officeDocument/2006/relationships/chart" Target="/ppt/slides/charts/chart2.xml" Id="R13ae20bb493d4873" /><Relationship Type="http://schemas.openxmlformats.org/officeDocument/2006/relationships/notesSlide" Target="/ppt/notesSlides/notesSlide5.xml" Id="R731a520d1c6b4d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00f6dc17481c" /><Relationship Type="http://schemas.openxmlformats.org/officeDocument/2006/relationships/notesSlide" Target="/ppt/notesSlides/notesSlide6.xml" Id="Rf52a94d760df45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26ae416a84dbf" /><Relationship Type="http://schemas.openxmlformats.org/officeDocument/2006/relationships/chart" Target="/ppt/slides/charts/chart3.xml" Id="Rf0b530dc55f8426b" /><Relationship Type="http://schemas.openxmlformats.org/officeDocument/2006/relationships/notesSlide" Target="/ppt/notesSlides/notesSlide7.xml" Id="Rd3699bce32f945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ebaf5ccc9466e" /><Relationship Type="http://schemas.openxmlformats.org/officeDocument/2006/relationships/notesSlide" Target="/ppt/notesSlides/notesSlide8.xml" Id="Rd45696b7d0b443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82f60d03245e9" /><Relationship Type="http://schemas.openxmlformats.org/officeDocument/2006/relationships/notesSlide" Target="/ppt/notesSlides/notesSlide9.xml" Id="R72f519b6d16042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c29fe64794a82" /><Relationship Type="http://schemas.openxmlformats.org/officeDocument/2006/relationships/chart" Target="/ppt/slides/charts/chart4.xml" Id="R7f80897abe3c43ac" /><Relationship Type="http://schemas.openxmlformats.org/officeDocument/2006/relationships/notesSlide" Target="/ppt/notesSlides/notesSlide10.xml" Id="R3bb3f27f830e44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841e17b6c4452" /><Relationship Type="http://schemas.openxmlformats.org/officeDocument/2006/relationships/notesSlide" Target="/ppt/notesSlides/notesSlide11.xml" Id="R3613d9f058bc48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0658bfde842d0" /><Relationship Type="http://schemas.openxmlformats.org/officeDocument/2006/relationships/notesSlide" Target="/ppt/notesSlides/notesSlide12.xml" Id="Rccf24aae14df42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ed3c78ea64cc0" /><Relationship Type="http://schemas.openxmlformats.org/officeDocument/2006/relationships/notesSlide" Target="/ppt/notesSlides/notesSlide13.xml" Id="R37d222f213df42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29466c29d4db6" /><Relationship Type="http://schemas.openxmlformats.org/officeDocument/2006/relationships/notesSlide" Target="/ppt/notesSlides/notesSlide14.xml" Id="R28411a19ed3349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25da3d24d47cc" /><Relationship Type="http://schemas.openxmlformats.org/officeDocument/2006/relationships/notesSlide" Target="/ppt/notesSlides/notesSlide15.xml" Id="R7c438670f9e94c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e5d4ec6d5468d" /><Relationship Type="http://schemas.openxmlformats.org/officeDocument/2006/relationships/notesSlide" Target="/ppt/notesSlides/notesSlide16.xml" Id="R3745e67e72fc47da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Error interception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50% review</c:v>
              </c:pt>
              <c:pt idx="1">
                <c:v>30% review</c:v>
              </c:pt>
              <c:pt idx="2">
                <c:v>20% review</c:v>
              </c:pt>
              <c:pt idx="3">
                <c:v>10% review</c:v>
              </c:pt>
              <c:pt idx="4">
                <c:v>5% review</c:v>
              </c:pt>
            </c:strLit>
          </c:cat>
          <c:val>
            <c:numLit>
              <c:formatCode>General</c:formatCode>
              <c:ptCount val="5"/>
              <c:pt idx="0">
                <c:v>83.6</c:v>
              </c:pt>
              <c:pt idx="1">
                <c:v>51.2</c:v>
              </c:pt>
              <c:pt idx="2">
                <c:v>34.5</c:v>
              </c:pt>
              <c:pt idx="3">
                <c:v>17.4</c:v>
              </c:pt>
              <c:pt idx="4">
                <c:v>8.7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Error interception @50%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Random</c:v>
              </c:pt>
              <c:pt idx="1">
                <c:v>ModelConf</c:v>
              </c:pt>
              <c:pt idx="2">
                <c:v>Disagreement</c:v>
              </c:pt>
              <c:pt idx="3">
                <c:v>Trust</c:v>
              </c:pt>
            </c:strLit>
          </c:cat>
          <c:val>
            <c:numLit>
              <c:formatCode>General</c:formatCode>
              <c:ptCount val="4"/>
              <c:pt idx="0">
                <c:v>49.9</c:v>
              </c:pt>
              <c:pt idx="1">
                <c:v>56.5</c:v>
              </c:pt>
              <c:pt idx="2">
                <c:v>59</c:v>
              </c:pt>
              <c:pt idx="3">
                <c:v>80.1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Coverage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v1.5.1</c:v>
              </c:pt>
              <c:pt idx="1">
                <c:v>EXP17-A</c:v>
              </c:pt>
            </c:strLit>
          </c:cat>
          <c:val>
            <c:numLit>
              <c:formatCode>General</c:formatCode>
              <c:ptCount val="2"/>
              <c:pt idx="0">
                <c:v>45.64</c:v>
              </c:pt>
              <c:pt idx="1">
                <c:v>54.13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Unsafe (%)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Trust ceiling</c:v>
              </c:pt>
              <c:pt idx="1">
                <c:v>Voting @ same coverage</c:v>
              </c:pt>
            </c:strLit>
          </c:cat>
          <c:val>
            <c:numLit>
              <c:formatCode>General</c:formatCode>
              <c:ptCount val="2"/>
              <c:pt idx="0">
                <c:v>6.04</c:v>
              </c:pt>
              <c:pt idx="1">
                <c:v>4.87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FCD256A-2293-495F-A4AD-0AA5D705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复赛 · AI FOR RESEARCH · 开放探索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CDA78D-44EC-439D-9397-191A5E1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OBS Trust Layer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37754A-3AB1-4975-B828-AEA58E0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让有限人工优先检查最危险的 AI 拾取，并探索安全自动化边界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D311AB7A-2206-40B5-8463-19DE373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24609D93-216F-440A-8994-8E9F9A5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50%复核预算截获83.6%错误；EXP17-A恢复Coverage至54.13%，Unsafe 5.51%；CI级非劣未建立。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2DBAA4AA-5D64-4CB3-8793-01C3981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EXP16 Review Efficiency · EXP17 Failure-driven Refinement · 1306 phase units</a:t>
            </a:r>
          </a:p>
        </p:txBody>
      </p:sp>
    </p:spTree>
    <p:extLst>
      <p:ext uri="{BB962C8B-B14F-4D97-AF65-F5344CB8AC3E}">
        <p14:creationId xmlns:p14="http://schemas.microsoft.com/office/powerpoint/2010/main" val="189988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0A7D5500-BB20-4E5C-B3D7-2820DA02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D7B1EDE-BB70-4615-90E6-3D5FE49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真正的问题不是“模型准不准”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EA85E651-77AA-46A8-BA89-A254E350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stakes-question">
            <a:extLst xmlns:a="http://schemas.openxmlformats.org/drawingml/2006/main">
              <a:ext uri="{FF2B5EF4-FFF2-40B4-BE49-F238E27FC236}">
                <a16:creationId xmlns:a16="http://schemas.microsoft.com/office/drawing/2014/main" id="{55F58572-96C5-4913-B291-CB823CC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哪些 AI 输出可以自动进入后续地震科研流程，哪些必须交给专家？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7F717-3294-4FD4-B6DE-F7BE48C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自动放行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4B0896-557D-439C-951E-A9BBC786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只看 confidence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A42F617-54FD-4798-8899-C45A593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人工复核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20F9A9B-ADBF-42EB-940A-686894FC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随机抽样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DBAD4D-C4FF-4984-B3E4-51B37171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提升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AD605A3-15F0-453C-B132-C592297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安全已证明</a:t>
            </a:r>
          </a:p>
        </p:txBody>
      </p:sp>
      <p:sp>
        <p:nvSpPr>
          <p:cNvPr id="11" name="stakes-answer">
            <a:extLst xmlns:a="http://schemas.openxmlformats.org/drawingml/2006/main">
              <a:ext uri="{FF2B5EF4-FFF2-40B4-BE49-F238E27FC236}">
                <a16:creationId xmlns:a16="http://schemas.microsoft.com/office/drawing/2014/main" id="{983180E4-1AB0-4B4B-8FA1-8F4C8DEE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RQ2：严格策略导致 Coverage 受限时，能否用推理时可见证据恢复自动处理，同时保持安全边界与复核排序？</a:t>
            </a:r>
          </a:p>
        </p:txBody>
      </p:sp>
    </p:spTree>
    <p:extLst>
      <p:ext uri="{BB962C8B-B14F-4D97-AF65-F5344CB8AC3E}">
        <p14:creationId xmlns:p14="http://schemas.microsoft.com/office/powerpoint/2010/main" val="1372376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">
            <a:extLst xmlns:a="http://schemas.openxmlformats.org/drawingml/2006/main">
              <a:ext uri="{FF2B5EF4-FFF2-40B4-BE49-F238E27FC236}">
                <a16:creationId xmlns:a16="http://schemas.microsoft.com/office/drawing/2014/main" id="{9B1D6AF7-F595-4691-ACB4-F691E4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0209B1-B3B7-4C36-A9CB-F0A3F92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三项成果，分别回答效率、能力与边界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5C91806-2EA3-4A3B-826B-7FC9607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1EFB60-CE5B-4520-88C6-0FB6030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Review efficiency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29C95-F34D-427E-B0A3-A114EEC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DAECC1-3E0B-447B-8CCB-6F81376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50%预算：Trust 83.6%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Random 50.0%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 +33.6pp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95% CI [+19.0,+35.65]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F88C07-7E63-4970-86FD-CD1470F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Automation coverage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99EDFA1-2B8A-4B53-9A1C-6AC0EFB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9C4C1F-30FC-4C94-87F1-CBFCFBA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v1.5.1  45.64%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EXP17-A  54.13%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Unsafe  5.51%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相对提升约18.6%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888C96-0C12-4777-8528-A468B74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Safety boundary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D0684-FF8C-4788-AC0F-B52581C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F1BFF9-0054-40FA-9D0D-E7BDBDE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 +0.92pp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 +2.24pp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最终裁决界值</a:t>
            </a: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  +2.0pp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非劣未确认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3CB865B-89A6-4943-9094-1E3F9F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recovery supported; safety non-inferiority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418047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固定复核预算下，Trust 更早截获错误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e345aa7e9c4763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83.6%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50% review budget 下的全量错误截获率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47% review 即截获 80%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Trust−Random @50 = +33.6pp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station bootstrap CI [+19.0,+35.65]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全预算：8.7→17.4→34.5→51.2→83.6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Error Interception 必须与 Review Burden 配对解释；不等价于实际劳动成本下降。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8">
            <a:extLst xmlns:a="http://schemas.openxmlformats.org/drawingml/2006/main">
              <a:ext uri="{FF2B5EF4-FFF2-40B4-BE49-F238E27FC236}">
                <a16:creationId xmlns:a16="http://schemas.microsoft.com/office/drawing/2014/main" id="{27C43BA1-E266-46A0-8B5C-BF1FFDF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9C30E09-9971-40F8-A0E8-408A0B1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Holdout 上，Trust 排序优势仍保持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544F0E5E-08AA-44FE-BDE2-7C72F6F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ae20bb493d4873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D0C43DF-C583-401D-AC64-47E5BB9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80.1%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3DE31B8-A9C0-427F-8D3B-970D6F6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 @ 50% review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Random 49.9% · ModelConf 56.5%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Disagreement 59.0%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DD134BB-3B5D-438C-AD55-67F8FC0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6DF678-216F-4745-88C9-0625495C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Primary eval holdout n=260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errors=161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一致性佐证，不是独立 locked test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F3673A3-55CF-4BC2-A183-B539411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358 是全部 manifest holdout；正式 phase-level eligible subset 为 260，分母必须统一。</a:t>
            </a:r>
          </a:p>
        </p:txBody>
      </p:sp>
    </p:spTree>
    <p:extLst>
      <p:ext uri="{BB962C8B-B14F-4D97-AF65-F5344CB8AC3E}">
        <p14:creationId xmlns:p14="http://schemas.microsoft.com/office/powerpoint/2010/main" val="888950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4">
            <a:extLst xmlns:a="http://schemas.openxmlformats.org/drawingml/2006/main">
              <a:ext uri="{FF2B5EF4-FFF2-40B4-BE49-F238E27FC236}">
                <a16:creationId xmlns:a16="http://schemas.microsoft.com/office/drawing/2014/main" id="{15399461-3E0C-45DE-AB42-7D23410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4581C52-5BD5-4E8C-8521-24D1484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天花板主要来自 policy conservatism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BFF2D92-2F62-4CC1-B8C7-DEDE5D3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metric-OBS records">
            <a:extLst xmlns:a="http://schemas.openxmlformats.org/drawingml/2006/main">
              <a:ext uri="{FF2B5EF4-FFF2-40B4-BE49-F238E27FC236}">
                <a16:creationId xmlns:a16="http://schemas.microsoft.com/office/drawing/2014/main" id="{92E9869E-B934-4141-8F33-DCDEE0FA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703</a:t>
            </a:r>
          </a:p>
        </p:txBody>
      </p:sp>
      <p:sp>
        <p:nvSpPr>
          <p:cNvPr id="5" name="metric-label-OBS records">
            <a:extLst xmlns:a="http://schemas.openxmlformats.org/drawingml/2006/main">
              <a:ext uri="{FF2B5EF4-FFF2-40B4-BE49-F238E27FC236}">
                <a16:creationId xmlns:a16="http://schemas.microsoft.com/office/drawing/2014/main" id="{704281C6-9139-4A87-A3B9-E44AC44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non-auto actions</a:t>
            </a:r>
          </a:p>
        </p:txBody>
      </p:sp>
      <p:sp>
        <p:nvSpPr>
          <p:cNvPr id="6" name="metric-phase-level units">
            <a:extLst xmlns:a="http://schemas.openxmlformats.org/drawingml/2006/main">
              <a:ext uri="{FF2B5EF4-FFF2-40B4-BE49-F238E27FC236}">
                <a16:creationId xmlns:a16="http://schemas.microsoft.com/office/drawing/2014/main" id="{E52776C7-0900-4628-BFF6-EE41916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487</a:t>
            </a:r>
          </a:p>
        </p:txBody>
      </p:sp>
      <p:sp>
        <p:nvSpPr>
          <p:cNvPr id="7" name="metric-label-phase-level units">
            <a:extLst xmlns:a="http://schemas.openxmlformats.org/drawingml/2006/main">
              <a:ext uri="{FF2B5EF4-FFF2-40B4-BE49-F238E27FC236}">
                <a16:creationId xmlns:a16="http://schemas.microsoft.com/office/drawing/2014/main" id="{A2E64E33-A546-41F7-A1BA-DEBC51E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INSUFFICIENT EVIDENCE</a:t>
            </a:r>
          </a:p>
        </p:txBody>
      </p:sp>
      <p:sp>
        <p:nvSpPr>
          <p:cNvPr id="8" name="metric-stations">
            <a:extLst xmlns:a="http://schemas.openxmlformats.org/drawingml/2006/main">
              <a:ext uri="{FF2B5EF4-FFF2-40B4-BE49-F238E27FC236}">
                <a16:creationId xmlns:a16="http://schemas.microsoft.com/office/drawing/2014/main" id="{6B51ECC6-186B-4A88-8713-5A2DE32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112</a:t>
            </a:r>
          </a:p>
        </p:txBody>
      </p:sp>
      <p:sp>
        <p:nvSpPr>
          <p:cNvPr id="9" name="metric-label-stations">
            <a:extLst xmlns:a="http://schemas.openxmlformats.org/drawingml/2006/main">
              <a:ext uri="{FF2B5EF4-FFF2-40B4-BE49-F238E27FC236}">
                <a16:creationId xmlns:a16="http://schemas.microsoft.com/office/drawing/2014/main" id="{AEDA0E0E-B683-43ED-81A2-0A4E3FA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consensus / no FUSE</a:t>
            </a:r>
          </a:p>
        </p:txBody>
      </p:sp>
      <p:sp>
        <p:nvSpPr>
          <p:cNvPr id="10" name="metric-frozen checkpoints">
            <a:extLst xmlns:a="http://schemas.openxmlformats.org/drawingml/2006/main">
              <a:ext uri="{FF2B5EF4-FFF2-40B4-BE49-F238E27FC236}">
                <a16:creationId xmlns:a16="http://schemas.microsoft.com/office/drawing/2014/main" id="{C98E13DA-3BB8-44E9-BABA-E39FAAB3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66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57</a:t>
            </a:r>
          </a:p>
        </p:txBody>
      </p:sp>
      <p:sp>
        <p:nvSpPr>
          <p:cNvPr id="11" name="metric-label-frozen checkpoints">
            <a:extLst xmlns:a="http://schemas.openxmlformats.org/drawingml/2006/main">
              <a:ext uri="{FF2B5EF4-FFF2-40B4-BE49-F238E27FC236}">
                <a16:creationId xmlns:a16="http://schemas.microsoft.com/office/drawing/2014/main" id="{6806E7F1-1B1C-4CEC-AEE9-6D09EF24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picks to reach 50%</a:t>
            </a:r>
          </a:p>
        </p:txBody>
      </p:sp>
      <p:sp>
        <p:nvSpPr>
          <p:cNvPr id="12" name="models-list">
            <a:extLst xmlns:a="http://schemas.openxmlformats.org/drawingml/2006/main">
              <a:ext uri="{FF2B5EF4-FFF2-40B4-BE49-F238E27FC236}">
                <a16:creationId xmlns:a16="http://schemas.microsoft.com/office/drawing/2014/main" id="{B9DAAF95-4842-4BD2-B205-E1BCA5ED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487 中：430 至少一个模型正确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312 所有模型均正确（仅诊断）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112 中：105 至少一个模型正确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89 所有模型均正确（仅诊断）</a:t>
            </a:r>
          </a:p>
        </p:txBody>
      </p:sp>
      <p:sp>
        <p:nvSpPr>
          <p:cNvPr id="13" name="config-list">
            <a:extLst xmlns:a="http://schemas.openxmlformats.org/drawingml/2006/main">
              <a:ext uri="{FF2B5EF4-FFF2-40B4-BE49-F238E27FC236}">
                <a16:creationId xmlns:a16="http://schemas.microsoft.com/office/drawing/2014/main" id="{E3087ACB-7A2F-4D2F-86BC-B1943A52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101 / 112 已满足 FUSE floor .70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但无法通过证据准入 / routing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 个 invalid ROUTE 属 bugfix track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不能计作算法贡献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67C679B-7757-4450-9CBF-D99DD99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边界：312 / 89 只能用于事后诊断；不得作为 EXP17 routing rule 的输入。</a:t>
            </a:r>
          </a:p>
        </p:txBody>
      </p:sp>
    </p:spTree>
    <p:extLst>
      <p:ext uri="{BB962C8B-B14F-4D97-AF65-F5344CB8AC3E}">
        <p14:creationId xmlns:p14="http://schemas.microsoft.com/office/powerpoint/2010/main" val="404122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EXP17-A：Coverage 恢复，但安全非劣未确认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b530dc55f8426b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54.13%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Coverage · c1 PASS · Unsafe 5.51%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c2 NOT ESTABLISHED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点估计 +0.92pp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+2.24pp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高于 +2.0pp 界 0.24pp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c3 PASS 94.26% · c4 PASS 4.17→9.14→28.57；显式参数重跑完全一致，76/76 tests passed。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8B61321B-0949-446F-8B8C-BCCFB739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AD68979D-BE27-406A-BF50-EAC0342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35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最终 Scientific Claim：排序成立，Coverage 恢复，安全边界如实保留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86325B1B-F5D6-4CBB-81C1-45D05BA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75DE51-B0EE-46B9-BD46-16499E73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9DFBE03-3EA1-48DB-9BB7-44E61E8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9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在固定 OBS 数据、冻结模型与统一相位级协议下，组合风险证据能够用于人工复核优先级排序，并在 holdout Primary 子集中保持方向一致的错误拦截优势；v1.5.1 存在明显 policy ceiling，truth-blind EXP17-A 将 Coverage 恢复至 54.13%，Unsafe 为 5.51%，但按最终裁决的 +2pp 界，CI 级安全非劣尚未统计确认。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EE2F14-F908-4453-ACD6-0F4D835F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14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”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F26834-3CAD-4355-BC58-F2C833A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贡献 1 · reliability evidence admission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贡献 2 · review prioritization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5C2E026-2735-4770-9857-7A08907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贡献 3 · failure-driven policy refinement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负结果与边界同步保留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9DA3ADA-D709-42A8-943E-D3F7E6D5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最终口径：Coverage recovery supported; safety non-inferiority inconclusive. 显式参数重跑完全一致。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658103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E2BE620-6C98-4B74-AE77-98D34355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Trust Layer 的价值，不是让 AI “更敢自动”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6573405-01B2-4AD4-9750-FACB8EE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8C35347-01AA-41D3-B263-6735A65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自动化边界可测：Coverage / Unsafe / CI 同时报告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9D978F-C322-4DB2-8B91-015BC999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430CD97-44B5-41AC-85E6-69AEB1CA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人工注意力可控：有限预算优先拦截高风险输出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A0FB75D-6425-470F-92DB-DC47BB5D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9C7B91-2533-4228-A03E-5986CF6B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科研证据可复现：负结果、bugfix、refinement 分轨留痕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F2D3B23-17F8-4EDF-92BB-A8EE906D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ADE25FE-274F-4B4C-B46B-DDD5C87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而是让自动化边界和人工注意力分配都可测、可控、可复现。</a:t>
            </a:r>
          </a:p>
        </p:txBody>
      </p:sp>
    </p:spTree>
    <p:extLst>
      <p:ext uri="{BB962C8B-B14F-4D97-AF65-F5344CB8AC3E}">
        <p14:creationId xmlns:p14="http://schemas.microsoft.com/office/powerpoint/2010/main" val="446661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v1.5.1 冻结结果：严格策略先暴露 policy ceiling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80897abe3c43ac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45.64%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596 / 1306 个真实 selected_pick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NOT_EVALUABLE @ 50%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560 correct / 36 wrong / 710 no_pick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天花板 ΔUnsafe +1.17pp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95% CI [−1.09,+2.93]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S 相更差：Δ +3.39pp，CI [+0.90,+5.96]；原负结果保留，不被 EXP17 覆盖。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">
            <a:extLst xmlns:a="http://schemas.openxmlformats.org/drawingml/2006/main">
              <a:ext uri="{FF2B5EF4-FFF2-40B4-BE49-F238E27FC236}">
                <a16:creationId xmlns:a16="http://schemas.microsoft.com/office/drawing/2014/main" id="{9B1D6AF7-F595-4691-ACB4-F691E4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0209B1-B3B7-4C36-A9CB-F0A3F92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EXP17 是 post-hoc、failure-driven refinement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5C91806-2EA3-4A3B-826B-7FC9607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1EFB60-CE5B-4520-88C6-0FB6030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Gate 1 · Coverage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29C95-F34D-427E-B0A3-A114EEC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DAECC1-3E0B-447B-8CCB-6F81376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真实 selected_pick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Coverage ≥ 50.0%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伪 ROUTE 不得计数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按 phase unit 复算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F88C07-7E63-4970-86FD-CD1470F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Gate 2 · Safety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99EDFA1-2B8A-4B53-9A1C-6AC0EFB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9C4C1F-30FC-4C94-87F1-CBFCFBA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= EXP17@50 − Voting@50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station-cluster bootstrap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60 stations · 1000 次 · seed 42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&lt; +2.0pp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888C96-0C12-4777-8528-A468B74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Gate 3 · Truth blindness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D0684-FF8C-4788-AC0F-B52581C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F1BFF9-0054-40FA-9D0D-E7BDBDE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允许：consensus structure / survivor count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spread / calibrated confidence / phase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historical reliability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禁止：当前 evaluation truth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3CB865B-89A6-4943-9094-1E3F9F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最终裁决协议：点估计≤+1pp仅为内部绿灯；正式统计标准为单侧上界 &lt; +2.0pp。</a:t>
            </a:r>
          </a:p>
        </p:txBody>
      </p:sp>
    </p:spTree>
    <p:extLst>
      <p:ext uri="{BB962C8B-B14F-4D97-AF65-F5344CB8AC3E}">
        <p14:creationId xmlns:p14="http://schemas.microsoft.com/office/powerpoint/2010/main" val="1418047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1">
            <a:extLst xmlns:a="http://schemas.openxmlformats.org/drawingml/2006/main">
              <a:ext uri="{FF2B5EF4-FFF2-40B4-BE49-F238E27FC236}">
                <a16:creationId xmlns:a16="http://schemas.microsoft.com/office/drawing/2014/main" id="{750B6E97-79F1-402C-AF85-60879F5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101DBCC2-88FC-4CCD-8FD7-C5FCFE30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Why it works：更聪明地准入证据，而不是放松所有阈值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79224204-4221-4C47-B5EA-F9264504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D4635C2-FD24-4A1B-82E2-D5655CB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Reliability evidence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D46036D-503F-4AB0-BBFE-80CC0F0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consensus structure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survivor count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spread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calibrated confidence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01D87E9-D413-42E9-A261-FD6C70E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0C8079-DB09-4E52-8FF9-E0493EE2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推理时可见，且必须逐类验证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D99264-3197-4CCA-A16D-4A9B3CA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Consensus Route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9DA734E-0494-45E5-81CF-24594808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34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仅在 truth-blind 证据满足时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将保守 ABSTAIN 转为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可审计 selected_pick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477A447-8775-4844-8DEB-F5E92B9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589C2DD-50AB-49A1-A267-5779EF93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不是“多模型一致就安全”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EE041FA-645C-41EA-A900-99DEF9B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Reason codes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79D90F-1E39-4D2E-BCC4-30680FC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每次选择保留准入原因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失败可分解到 4.5 / 5 步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规则可撤回、可重放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40AD92F-8D55-4145-9944-2BABFB2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F3A4F5-3BEF-4168-A1D5-D45FAF8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让失败机制变成下一轮实验输入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91EDC9C-4FBF-4ECE-B9AC-61F643E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核心原则：每类 reliability evidence 都必须先独立通过准入验证。</a:t>
            </a:r>
          </a:p>
        </p:txBody>
      </p:sp>
    </p:spTree>
    <p:extLst>
      <p:ext uri="{BB962C8B-B14F-4D97-AF65-F5344CB8AC3E}">
        <p14:creationId xmlns:p14="http://schemas.microsoft.com/office/powerpoint/2010/main" val="2019726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0">
            <a:extLst xmlns:a="http://schemas.openxmlformats.org/drawingml/2006/main">
              <a:ext uri="{FF2B5EF4-FFF2-40B4-BE49-F238E27FC236}">
                <a16:creationId xmlns:a16="http://schemas.microsoft.com/office/drawing/2014/main" id="{D7DACC3D-C768-4D5E-91CD-CE13A526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D4E1527-9CD5-423C-92D2-EEBB944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反例提醒：多数一致仍会覆盖正确的单模型 pick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684A217C-3F1F-4617-9ED5-CA9C239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A4</a:t>
            </a:r>
          </a:p>
        </p:txBody>
      </p:sp>
      <p:sp>
        <p:nvSpPr>
          <p:cNvPr id="4" name="metric-failure rows = 710 no_pick + 36 wrong">
            <a:extLst xmlns:a="http://schemas.openxmlformats.org/drawingml/2006/main">
              <a:ext uri="{FF2B5EF4-FFF2-40B4-BE49-F238E27FC236}">
                <a16:creationId xmlns:a16="http://schemas.microsoft.com/office/drawing/2014/main" id="{E5E0EB93-A6C5-4783-B999-1D3E981A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746</a:t>
            </a:r>
          </a:p>
        </p:txBody>
      </p:sp>
      <p:sp>
        <p:nvSpPr>
          <p:cNvPr id="5" name="metric-label-failure rows = 710 no_pick + 36 wrong">
            <a:extLst xmlns:a="http://schemas.openxmlformats.org/drawingml/2006/main">
              <a:ext uri="{FF2B5EF4-FFF2-40B4-BE49-F238E27FC236}">
                <a16:creationId xmlns:a16="http://schemas.microsoft.com/office/drawing/2014/main" id="{8057ED86-4216-4836-85ED-F89F3B1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failure rows = 710 no_pick + 36 wrong</a:t>
            </a:r>
          </a:p>
        </p:txBody>
      </p:sp>
      <p:sp>
        <p:nvSpPr>
          <p:cNvPr id="6" name="metric-wrong outputs 中至少一个单模型正确">
            <a:extLst xmlns:a="http://schemas.openxmlformats.org/drawingml/2006/main">
              <a:ext uri="{FF2B5EF4-FFF2-40B4-BE49-F238E27FC236}">
                <a16:creationId xmlns:a16="http://schemas.microsoft.com/office/drawing/2014/main" id="{98471304-4011-40B4-AFD0-2BA66053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7" name="metric-label-wrong outputs 中至少一个单模型正确">
            <a:extLst xmlns:a="http://schemas.openxmlformats.org/drawingml/2006/main">
              <a:ext uri="{FF2B5EF4-FFF2-40B4-BE49-F238E27FC236}">
                <a16:creationId xmlns:a16="http://schemas.microsoft.com/office/drawing/2014/main" id="{669F49B7-FC12-461D-9020-F1CF12E9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wrong outputs 中至少一个单模型正确</a:t>
            </a:r>
          </a:p>
        </p:txBody>
      </p:sp>
      <p:sp>
        <p:nvSpPr>
          <p:cNvPr id="8" name="metric-&gt;30 s errors，全部为 S 相">
            <a:extLst xmlns:a="http://schemas.openxmlformats.org/drawingml/2006/main">
              <a:ext uri="{FF2B5EF4-FFF2-40B4-BE49-F238E27FC236}">
                <a16:creationId xmlns:a16="http://schemas.microsoft.com/office/drawing/2014/main" id="{4646CBFF-9857-4C32-A017-EF0003F7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9" name="metric-label-&gt;30 s errors，全部为 S 相">
            <a:extLst xmlns:a="http://schemas.openxmlformats.org/drawingml/2006/main">
              <a:ext uri="{FF2B5EF4-FFF2-40B4-BE49-F238E27FC236}">
                <a16:creationId xmlns:a16="http://schemas.microsoft.com/office/drawing/2014/main" id="{2902050E-020B-4481-BDAD-07399A2B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&gt;30 s errors，全部为 S 相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5D8B4B-37BE-432E-95A1-E059690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代表性 shared-error case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2374CC1-B3F7-4E51-AF4F-2852248D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XO.LT04..HH.2018.07.12.08.32.02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0DD275E-9D61-4757-8E39-4FE55F4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 truth 44.99 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6BA7EE5-F677-46C8-B53B-4F557B3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00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FUSE 142.61 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4A82B-61EE-4EB1-94E2-7FC10063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00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rPr>
              <a:t>EQT 44.84 s（正确）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3A41883-B8C6-4581-AE9E-67AB1D0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结论：Consensus Route 也必须服从 Safety Gate；“多数一致”本身不是可靠性保证。</a:t>
            </a:r>
          </a:p>
        </p:txBody>
      </p:sp>
    </p:spTree>
    <p:extLst>
      <p:ext uri="{BB962C8B-B14F-4D97-AF65-F5344CB8AC3E}">
        <p14:creationId xmlns:p14="http://schemas.microsoft.com/office/powerpoint/2010/main" val="12141863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6">
            <a:extLst xmlns:a="http://schemas.openxmlformats.org/drawingml/2006/main">
              <a:ext uri="{FF2B5EF4-FFF2-40B4-BE49-F238E27FC236}">
                <a16:creationId xmlns:a16="http://schemas.microsoft.com/office/drawing/2014/main" id="{9890D828-8251-47DA-BB21-0EAC5902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7F84B3E-13BF-4DE2-AD42-3D75C225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开放探索闭环：发现 → 解释 → 修正 → 再验证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AB37782B-4D81-4FEC-942D-DB76F1E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A5</a:t>
            </a:r>
          </a:p>
        </p:txBody>
      </p:sp>
      <p:sp>
        <p:nvSpPr>
          <p:cNvPr id="4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C3D8ED5D-9761-4AAD-8C7E-103F52F4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CDF342-35F5-4732-B54C-6E429DC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DBF876B-D565-4C55-8994-9DAB4DF6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v1.5.1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0D07381-BB1E-4739-8516-9126819C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冻结负结果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660CD82-41AB-4132-B202-8CD47815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45.64% 天花板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DS1 并列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 相显著更差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07F69D6-C43C-4045-8703-F94D219F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122C053-9EAD-4909-8137-03C2178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Implementation audit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4FD8BF1-3806-470D-BD23-A0763EE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Bugfix baseline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2CB5F25-4C3E-4AD0-B4B3-531E719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 个 invalid ROUTE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单独修复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核心指标不变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222ABD-6386-46F7-8BDD-F63AB1E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2077C4-0C2D-4A36-803C-58B95804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Failure decomposition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00A7E2-B8A0-45E1-8876-D686E58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Policy ceiling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0A56460-D2D2-475F-9EB8-091D8E4E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703 个未自动输出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定位 4.5 / 5 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57 即可到 50%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B16FE01-C8BF-439C-992C-4A28E9C6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163FBA2-10B2-44AB-9B97-59A7CAE8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EXP17-A / B + Audit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18317A7-2BF3-4719-8656-6E9A8240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修正与再验证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1AE642D-0A4B-408A-96F3-35447B2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A 为最佳候选：54.13%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B 双败否决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c2 未建立，不作部署结论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AF1D3F1-FCCA-4131-A617-0B25AC35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v1.5.1 → implementation audit → bugfix baseline → failure decomposition → A/B → final parameter audit；bugfix ≠ 算法贡献。</a:t>
            </a:r>
          </a:p>
        </p:txBody>
      </p:sp>
    </p:spTree>
    <p:extLst>
      <p:ext uri="{BB962C8B-B14F-4D97-AF65-F5344CB8AC3E}">
        <p14:creationId xmlns:p14="http://schemas.microsoft.com/office/powerpoint/2010/main" val="60966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14">
            <a:extLst xmlns:a="http://schemas.openxmlformats.org/drawingml/2006/main">
              <a:ext uri="{FF2B5EF4-FFF2-40B4-BE49-F238E27FC236}">
                <a16:creationId xmlns:a16="http://schemas.microsoft.com/office/drawing/2014/main" id="{C9375F19-BA37-4A81-A76D-6051BDF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FA3A8BE-CF76-48D0-8D24-D363A6D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可复现与开源：每个结果都能回到 commit / config / run</a:t>
            </a:r>
          </a:p>
        </p:txBody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FC75D319-EFF6-4803-9E9C-99F5A9B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A6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8834EE9-AB9B-4C86-ADD1-79DAC3A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F4AAA9-C7A1-4EAD-A8DD-47B9C984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层级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A596960-1C83-43C7-9DF1-B63B61D8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19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已形成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423188-FB35-4221-BF66-B06821D0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19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最终冻结证据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7A3A83F-C382-45D3-A1F1-2E8158F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02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3CA2465-5B5D-4103-8720-71E0FAF1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02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ADEA6A-494F-4F2D-8D64-DD47A4FE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实验身份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88E55B1-F191-4E08-86CC-B8ECD3BF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717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commit / config hash / run_id / N_eval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E346730-98A3-4EC3-8DA7-01A0BE6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71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复算锚点：integration@e5ff41c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59ED192-57CF-476D-9478-E52C9968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004025E-C827-4284-9C59-46153DC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479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54E6AE7-20C4-495F-A4CC-6272BA6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复算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993FEE6-A876-4E98-9B30-FF24F446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冻结输入 hash + core replay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1385A0D-697F-4534-9A92-464DBF8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显式参数重跑完全一致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B58F6-9DDF-4E5C-974A-F3DDFCB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56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E3EC4CD-6C09-4B10-8D79-4B477CC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956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10F4EE3-E926-4E62-9308-7A9F50C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算法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B200C46-571F-4845-B5F4-EFA2369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bugfix 与 EXP17 分轨提交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3701CA8-7B43-474F-B37D-2E7C21DE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P=.34/S=.51；legacy fallback未执行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3DBED73-ECB7-4A84-85F7-316C5D6D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AAF363D-E906-4DBC-A02F-2AB9AFA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433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92A453E-BDB4-460A-9993-BB0CC444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D0867F7-1814-4F46-B778-28A0AC00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per-unit 对账 + bootstrap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8451969-C0EC-4CE2-9E1B-0895E819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14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54.13/5.51/94.26；76/76 tests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24B4442-402D-4D9C-9C1D-1011722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E5394C8-2E13-42FC-8B73-6518AE8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910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B7DBD4-A94F-44BF-95F0-FC4C6C2D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发布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4B2E71F-D7CE-463A-A8D2-EB7A6C3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625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第三方 notices 已建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9C412C8-0CE8-4248-AE74-5B6A3C2C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625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A/B a6c5f1f；C 审校 003a1e7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4C9299-B74C-4DCF-B7DB-8709DA95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MIT 仅覆盖团队代码；OBS 数据 CC BY 4.0，SeisBench GPL-3.0，权重不随仓库分发。正式发布：goai-2026-final-v2；标签指向含最终报告/PPT且通过全量验收的提交。</a:t>
            </a:r>
          </a:p>
        </p:txBody>
      </p:sp>
    </p:spTree>
    <p:extLst>
      <p:ext uri="{BB962C8B-B14F-4D97-AF65-F5344CB8AC3E}">
        <p14:creationId xmlns:p14="http://schemas.microsoft.com/office/powerpoint/2010/main" val="985547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3">
            <a:extLst xmlns:a="http://schemas.openxmlformats.org/drawingml/2006/main">
              <a:ext uri="{FF2B5EF4-FFF2-40B4-BE49-F238E27FC236}">
                <a16:creationId xmlns:a16="http://schemas.microsoft.com/office/drawing/2014/main" id="{A6D9AC37-153E-437E-A514-40E3DD8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64C5842B-063F-4FC3-82D6-E6B41FE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结论必须和局限一起提交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D382F685-B409-4FFA-8CF8-F3BEB47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A7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A2E0977-84A0-4EBA-A6C5-D3F542C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rPr>
              <a:t>可以声称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BF98D06-3EDC-468A-8B90-A9FF3BB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探索性、可追溯验证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固定预算下的错误排序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同数据集不同台阵 holdout 一致性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EXP17-A 的 Coverage 恢复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安全非劣接近但未确认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232FDAD-BC26-4649-A03D-53840CF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不能声称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7B4510-7A2C-4EED-B479-673F536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严格预注册确证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独立 locked test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跨数据集普适泛化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risk 是错误概率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生产部署或自主科研 Agent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 是原始预声明实验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1D26FA-9A82-4E58-B7B9-6085EB4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966951-27E1-41FB-ACE2-2FB8B203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不把 review coverage 下降直接等价为实际劳动成本下降；CI 级非劣性仍需更大样本确认。</a:t>
            </a:r>
          </a:p>
        </p:txBody>
      </p:sp>
    </p:spTree>
    <p:extLst>
      <p:ext uri="{BB962C8B-B14F-4D97-AF65-F5344CB8AC3E}">
        <p14:creationId xmlns:p14="http://schemas.microsoft.com/office/powerpoint/2010/main" val="1233156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2026-09-02T11:33:02.6680000Z</dcterms:created>
  <dcterms:modified xsi:type="dcterms:W3CDTF">2026-09-02T11:33:02.6680000Z</dcterms:modified>
</coreProperties>
</file>