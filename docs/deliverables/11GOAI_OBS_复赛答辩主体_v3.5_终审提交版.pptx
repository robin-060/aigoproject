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b72b6567994eed" /><Relationship Type="http://schemas.openxmlformats.org/officeDocument/2006/relationships/extended-properties" Target="/docProps/app.xml" Id="R2d7273855ea44d02" /><Relationship Type="http://schemas.openxmlformats.org/officeDocument/2006/relationships/officeDocument" Target="/ppt/presentation.xml" Id="Rcd17a349042547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82ac0cdb9b4f01"/>
  </p:sldMasterIdLst>
  <p:notesMasterIdLst>
    <p:notesMasterId xmlns:r="http://schemas.openxmlformats.org/officeDocument/2006/relationships" r:id="R0b60827c8938483a"/>
  </p:notesMasterIdLst>
  <p:sldIdLst>
    <p:sldId xmlns:r="http://schemas.openxmlformats.org/officeDocument/2006/relationships" id="256" r:id="Re3d72e3b6d4649f2"/>
    <p:sldId xmlns:r="http://schemas.openxmlformats.org/officeDocument/2006/relationships" id="257" r:id="R675d62c1d4554c1e"/>
    <p:sldId xmlns:r="http://schemas.openxmlformats.org/officeDocument/2006/relationships" id="258" r:id="Rfdfdef04a83f432e"/>
    <p:sldId xmlns:r="http://schemas.openxmlformats.org/officeDocument/2006/relationships" id="259" r:id="Ra0cfdf53ba614e11"/>
    <p:sldId xmlns:r="http://schemas.openxmlformats.org/officeDocument/2006/relationships" id="260" r:id="R8673f9d9325641ef"/>
    <p:sldId xmlns:r="http://schemas.openxmlformats.org/officeDocument/2006/relationships" id="261" r:id="R8b0ce27de26b4eca"/>
    <p:sldId xmlns:r="http://schemas.openxmlformats.org/officeDocument/2006/relationships" id="262" r:id="Radbffa39881a413a"/>
    <p:sldId xmlns:r="http://schemas.openxmlformats.org/officeDocument/2006/relationships" id="263" r:id="R1c67e2d2a4094f7b"/>
    <p:sldId xmlns:r="http://schemas.openxmlformats.org/officeDocument/2006/relationships" id="264" r:id="R6b6632d00816467f"/>
    <p:sldId xmlns:r="http://schemas.openxmlformats.org/officeDocument/2006/relationships" id="265" r:id="R56c6197ef1d0441b"/>
    <p:sldId xmlns:r="http://schemas.openxmlformats.org/officeDocument/2006/relationships" id="266" r:id="R206d3b6d7c6c4f82"/>
    <p:sldId xmlns:r="http://schemas.openxmlformats.org/officeDocument/2006/relationships" id="267" r:id="Ra7ce48949f074bc4"/>
    <p:sldId xmlns:r="http://schemas.openxmlformats.org/officeDocument/2006/relationships" id="268" r:id="Re97b1a5618e54d20"/>
    <p:sldId xmlns:r="http://schemas.openxmlformats.org/officeDocument/2006/relationships" id="269" r:id="R5a5ec0d08b334d37"/>
    <p:sldId xmlns:r="http://schemas.openxmlformats.org/officeDocument/2006/relationships" id="270" r:id="R9cebdbb658cb459f"/>
    <p:sldId xmlns:r="http://schemas.openxmlformats.org/officeDocument/2006/relationships" id="271" r:id="R41a10589c95545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90697d2a874ad9" /><Relationship Type="http://schemas.openxmlformats.org/officeDocument/2006/relationships/slideMaster" Target="/ppt/slideMasters/slideMaster1.xml" Id="Re982ac0cdb9b4f01" /><Relationship Type="http://schemas.openxmlformats.org/officeDocument/2006/relationships/notesMaster" Target="/ppt/notesMasters/notesMaster1.xml" Id="R0b60827c8938483a" /><Relationship Type="http://schemas.openxmlformats.org/officeDocument/2006/relationships/presProps" Target="/ppt/presProps.xml" Id="Rfc17953f35864034" /><Relationship Type="http://schemas.openxmlformats.org/officeDocument/2006/relationships/viewProps" Target="/ppt/viewProps.xml" Id="Rcad4b177c5f74fe0" /><Relationship Type="http://schemas.openxmlformats.org/officeDocument/2006/relationships/tableStyles" Target="/ppt/tableStyles.xml" Id="R9736c9f1867a40c8" /><Relationship Type="http://schemas.openxmlformats.org/officeDocument/2006/relationships/slide" Target="/ppt/slides/slide1.xml" Id="Re3d72e3b6d4649f2" /><Relationship Type="http://schemas.openxmlformats.org/officeDocument/2006/relationships/slide" Target="/ppt/slides/slide2.xml" Id="R675d62c1d4554c1e" /><Relationship Type="http://schemas.openxmlformats.org/officeDocument/2006/relationships/slide" Target="/ppt/slides/slide3.xml" Id="Rfdfdef04a83f432e" /><Relationship Type="http://schemas.openxmlformats.org/officeDocument/2006/relationships/slide" Target="/ppt/slides/slide4.xml" Id="Ra0cfdf53ba614e11" /><Relationship Type="http://schemas.openxmlformats.org/officeDocument/2006/relationships/slide" Target="/ppt/slides/slide5.xml" Id="R8673f9d9325641ef" /><Relationship Type="http://schemas.openxmlformats.org/officeDocument/2006/relationships/slide" Target="/ppt/slides/slide6.xml" Id="R8b0ce27de26b4eca" /><Relationship Type="http://schemas.openxmlformats.org/officeDocument/2006/relationships/slide" Target="/ppt/slides/slide7.xml" Id="Radbffa39881a413a" /><Relationship Type="http://schemas.openxmlformats.org/officeDocument/2006/relationships/slide" Target="/ppt/slides/slide8.xml" Id="R1c67e2d2a4094f7b" /><Relationship Type="http://schemas.openxmlformats.org/officeDocument/2006/relationships/slide" Target="/ppt/slides/slide9.xml" Id="R6b6632d00816467f" /><Relationship Type="http://schemas.openxmlformats.org/officeDocument/2006/relationships/slide" Target="/ppt/slides/slide10.xml" Id="R56c6197ef1d0441b" /><Relationship Type="http://schemas.openxmlformats.org/officeDocument/2006/relationships/slide" Target="/ppt/slides/slide11.xml" Id="R206d3b6d7c6c4f82" /><Relationship Type="http://schemas.openxmlformats.org/officeDocument/2006/relationships/slide" Target="/ppt/slides/slide12.xml" Id="Ra7ce48949f074bc4" /><Relationship Type="http://schemas.openxmlformats.org/officeDocument/2006/relationships/slide" Target="/ppt/slides/slide13.xml" Id="Re97b1a5618e54d20" /><Relationship Type="http://schemas.openxmlformats.org/officeDocument/2006/relationships/slide" Target="/ppt/slides/slide14.xml" Id="R5a5ec0d08b334d37" /><Relationship Type="http://schemas.openxmlformats.org/officeDocument/2006/relationships/slide" Target="/ppt/slides/slide15.xml" Id="R9cebdbb658cb459f" /><Relationship Type="http://schemas.openxmlformats.org/officeDocument/2006/relationships/slide" Target="/ppt/slides/slide16.xml" Id="R41a10589c95545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d0570cc13b40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a582f0b4014bdd" /><Relationship Type="http://schemas.openxmlformats.org/officeDocument/2006/relationships/notesMaster" Target="/ppt/notesMasters/notesMaster1.xml" Id="R7f8a1ae900e041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1691ba557f4542" /><Relationship Type="http://schemas.openxmlformats.org/officeDocument/2006/relationships/notesMaster" Target="/ppt/notesMasters/notesMaster1.xml" Id="Rbf5e449f0d684d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af59ec5c554434" /><Relationship Type="http://schemas.openxmlformats.org/officeDocument/2006/relationships/notesMaster" Target="/ppt/notesMasters/notesMaster1.xml" Id="Ra377dadcbbec4b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6b5aa17c8f4a28" /><Relationship Type="http://schemas.openxmlformats.org/officeDocument/2006/relationships/notesMaster" Target="/ppt/notesMasters/notesMaster1.xml" Id="R4f202e143f924b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fef255e7c24588" /><Relationship Type="http://schemas.openxmlformats.org/officeDocument/2006/relationships/notesMaster" Target="/ppt/notesMasters/notesMaster1.xml" Id="Rf148fda8ed8442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508d557754403f" /><Relationship Type="http://schemas.openxmlformats.org/officeDocument/2006/relationships/notesMaster" Target="/ppt/notesMasters/notesMaster1.xml" Id="R2a37a95c519a46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8d8e12fc974cd0" /><Relationship Type="http://schemas.openxmlformats.org/officeDocument/2006/relationships/notesMaster" Target="/ppt/notesMasters/notesMaster1.xml" Id="Rc8d6a2eba51d49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df9930431a4543" /><Relationship Type="http://schemas.openxmlformats.org/officeDocument/2006/relationships/notesMaster" Target="/ppt/notesMasters/notesMaster1.xml" Id="R8e6a07e4bcb949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ce2c440d0e481b" /><Relationship Type="http://schemas.openxmlformats.org/officeDocument/2006/relationships/notesMaster" Target="/ppt/notesMasters/notesMaster1.xml" Id="R2100db2ebbcd4e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914c049a5a49a8" /><Relationship Type="http://schemas.openxmlformats.org/officeDocument/2006/relationships/notesMaster" Target="/ppt/notesMasters/notesMaster1.xml" Id="Rbe113bfadb1846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f0805ace844d1e" /><Relationship Type="http://schemas.openxmlformats.org/officeDocument/2006/relationships/notesMaster" Target="/ppt/notesMasters/notesMaster1.xml" Id="R83b7e7ad6dec41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2a7a2673874d14" /><Relationship Type="http://schemas.openxmlformats.org/officeDocument/2006/relationships/notesMaster" Target="/ppt/notesMasters/notesMaster1.xml" Id="R992f59e908f146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4ab55048b04bf2" /><Relationship Type="http://schemas.openxmlformats.org/officeDocument/2006/relationships/notesMaster" Target="/ppt/notesMasters/notesMaster1.xml" Id="R3af51d5eb0a644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b47c3021e24ff0" /><Relationship Type="http://schemas.openxmlformats.org/officeDocument/2006/relationships/notesMaster" Target="/ppt/notesMasters/notesMaster1.xml" Id="Red13fb2dda114f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6292e074fd4375" /><Relationship Type="http://schemas.openxmlformats.org/officeDocument/2006/relationships/notesMaster" Target="/ppt/notesMasters/notesMaster1.xml" Id="R2b458da3d60845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3840ddc19e4806" /><Relationship Type="http://schemas.openxmlformats.org/officeDocument/2006/relationships/notesMaster" Target="/ppt/notesMasters/notesMaster1.xml" Id="R5ed71134486348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封面数字来自 EXP16 与 EXP17 最终冻结结果。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RQ2 为 policy ceiling 诊断后形成的派生研究问题。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Review CI 为 Trust−Random @50%；Safety 为配对 station-cluster bootstrap。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EXP16 全量 Review Budget–Error Interception Curve；50% baselines: Random 50.0%, ModelConf 59.9%, Disagreement 56.3%。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EXP16 holdout Primary evaluation universe: n=260, errors=161；358 为全部 manifest holdout。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Policy ceiling reason decomposition: 703 / 487 / 112 / 57；312 与 89 仅用于事后诊断。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EXP17-A: Coverage 54.13%, Unsafe 5.51%, Error Interception 94.26%；one-sided upper +2.24pp。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Scientific Claim 不声称 CI-level safety non-inferiority 已建立。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结论综合冻结成果层级。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v1.5.1 frozen result: 596 valid outputs, Coverage 45.64%, Unsafe 6.04%。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 protocol 为 post-hoc、failure-driven，不是原始预声明实验。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EXP17-A 只使用 truth-blind inference-time evidence。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v1.5.1 shared-error case: XO.LT04..HH.2018.07.12.08.32.02。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EXP17-B: Coverage 81.62%, c2 upper +4.87pp fail, c3 64.55% fail；参数审计使用 P=.34s/S=.51s。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显式参数重跑完全复现 54.13% / 5.51% / 94.26%，upper +2.24pp，76/76 tests passed。</a:t>
            </a:r>
          </a:p>
          <a:p xmlns:a="http://schemas.openxmlformats.org/drawingml/2006/main">
            <a:r>
              <a:t>- https://zenodo.org/records/10277799</a:t>
            </a:r>
          </a:p>
          <a:p xmlns:a="http://schemas.openxmlformats.org/drawingml/2006/main">
            <a:r>
              <a:t>- https://github.com/seisbench/seisbench</a:t>
            </a:r>
          </a:p>
          <a:p xmlns:a="http://schemas.openxmlformats.org/drawingml/2006/main">
            <a:r>
              <a:t>- THIRD_PARTY_NOTICES.md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docs/deliverables/10c 部分 GOAI_OBS_科研边界与实验契约_v1.10_包装验收与发布版.docx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No-Go 保留 post-hoc EXP17 边界；CI 级非劣仍需更大样本。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abd43cba843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ae90c27c5b4944" /><Relationship Type="http://schemas.openxmlformats.org/officeDocument/2006/relationships/slideLayout" Target="/ppt/slideLayouts/slideLayout1.xml" Id="R9d7bbd24c3ba4d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7bbd24c3ba4d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dca3a7b5a4845" /><Relationship Type="http://schemas.openxmlformats.org/officeDocument/2006/relationships/notesSlide" Target="/ppt/notesSlides/notesSlide1.xml" Id="R2f5ca010b46d4a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be2c6e40d491c" /><Relationship Type="http://schemas.openxmlformats.org/officeDocument/2006/relationships/notesSlide" Target="/ppt/notesSlides/notesSlide2.xml" Id="Rfb4af1860c9844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793650b4e488a" /><Relationship Type="http://schemas.openxmlformats.org/officeDocument/2006/relationships/notesSlide" Target="/ppt/notesSlides/notesSlide3.xml" Id="R7d551cbd118340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05caead0542e2" /><Relationship Type="http://schemas.openxmlformats.org/officeDocument/2006/relationships/chart" Target="/ppt/slides/charts/chart1.xml" Id="R870f4f50050b45ae" /><Relationship Type="http://schemas.openxmlformats.org/officeDocument/2006/relationships/notesSlide" Target="/ppt/notesSlides/notesSlide4.xml" Id="Raadc12e02b554d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811532d77477c" /><Relationship Type="http://schemas.openxmlformats.org/officeDocument/2006/relationships/chart" Target="/ppt/slides/charts/chart2.xml" Id="Ra0f02bc0311f45e2" /><Relationship Type="http://schemas.openxmlformats.org/officeDocument/2006/relationships/notesSlide" Target="/ppt/notesSlides/notesSlide5.xml" Id="R497f0b522b7c41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a258b411e4361" /><Relationship Type="http://schemas.openxmlformats.org/officeDocument/2006/relationships/notesSlide" Target="/ppt/notesSlides/notesSlide6.xml" Id="Ra6fe3e1a89124d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90d2d05524f65" /><Relationship Type="http://schemas.openxmlformats.org/officeDocument/2006/relationships/chart" Target="/ppt/slides/charts/chart3.xml" Id="R2fd294ca4b014529" /><Relationship Type="http://schemas.openxmlformats.org/officeDocument/2006/relationships/notesSlide" Target="/ppt/notesSlides/notesSlide7.xml" Id="R8ce88447acc944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fa46646d14365" /><Relationship Type="http://schemas.openxmlformats.org/officeDocument/2006/relationships/notesSlide" Target="/ppt/notesSlides/notesSlide8.xml" Id="R7d9ee98551db44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c3a91957a467c" /><Relationship Type="http://schemas.openxmlformats.org/officeDocument/2006/relationships/notesSlide" Target="/ppt/notesSlides/notesSlide9.xml" Id="R6f8ce281183144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42f7b766b46bc" /><Relationship Type="http://schemas.openxmlformats.org/officeDocument/2006/relationships/chart" Target="/ppt/slides/charts/chart4.xml" Id="R47385ad4bf5347d1" /><Relationship Type="http://schemas.openxmlformats.org/officeDocument/2006/relationships/notesSlide" Target="/ppt/notesSlides/notesSlide10.xml" Id="R8631f21fd2254d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b1269f2304054" /><Relationship Type="http://schemas.openxmlformats.org/officeDocument/2006/relationships/notesSlide" Target="/ppt/notesSlides/notesSlide11.xml" Id="R74c91c0599a84a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89fa891614bb4" /><Relationship Type="http://schemas.openxmlformats.org/officeDocument/2006/relationships/notesSlide" Target="/ppt/notesSlides/notesSlide12.xml" Id="Rd5455542dd1d4a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4052758c44100" /><Relationship Type="http://schemas.openxmlformats.org/officeDocument/2006/relationships/notesSlide" Target="/ppt/notesSlides/notesSlide13.xml" Id="Re8652d4778e74a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ec264aa044308" /><Relationship Type="http://schemas.openxmlformats.org/officeDocument/2006/relationships/notesSlide" Target="/ppt/notesSlides/notesSlide14.xml" Id="Ra5241cb1618942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6cf8e0b5545c6" /><Relationship Type="http://schemas.openxmlformats.org/officeDocument/2006/relationships/notesSlide" Target="/ppt/notesSlides/notesSlide15.xml" Id="Rf257708f53c24a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eb11c032e4807" /><Relationship Type="http://schemas.openxmlformats.org/officeDocument/2006/relationships/notesSlide" Target="/ppt/notesSlides/notesSlide16.xml" Id="R2b8a009f72e749fd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Error interception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50% review</c:v>
              </c:pt>
              <c:pt idx="1">
                <c:v>30% review</c:v>
              </c:pt>
              <c:pt idx="2">
                <c:v>20% review</c:v>
              </c:pt>
              <c:pt idx="3">
                <c:v>10% review</c:v>
              </c:pt>
              <c:pt idx="4">
                <c:v>5% review</c:v>
              </c:pt>
            </c:strLit>
          </c:cat>
          <c:val>
            <c:numLit>
              <c:formatCode>General</c:formatCode>
              <c:ptCount val="5"/>
              <c:pt idx="0">
                <c:v>83.6</c:v>
              </c:pt>
              <c:pt idx="1">
                <c:v>51.2</c:v>
              </c:pt>
              <c:pt idx="2">
                <c:v>34.5</c:v>
              </c:pt>
              <c:pt idx="3">
                <c:v>17.4</c:v>
              </c:pt>
              <c:pt idx="4">
                <c:v>8.7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Error interception @50%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Random</c:v>
              </c:pt>
              <c:pt idx="1">
                <c:v>ModelConf</c:v>
              </c:pt>
              <c:pt idx="2">
                <c:v>Disagreement</c:v>
              </c:pt>
              <c:pt idx="3">
                <c:v>Trust</c:v>
              </c:pt>
            </c:strLit>
          </c:cat>
          <c:val>
            <c:numLit>
              <c:formatCode>General</c:formatCode>
              <c:ptCount val="4"/>
              <c:pt idx="0">
                <c:v>49.9</c:v>
              </c:pt>
              <c:pt idx="1">
                <c:v>56.5</c:v>
              </c:pt>
              <c:pt idx="2">
                <c:v>59</c:v>
              </c:pt>
              <c:pt idx="3">
                <c:v>80.1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Coverage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v1.5.1</c:v>
              </c:pt>
              <c:pt idx="1">
                <c:v>EXP17-A</c:v>
              </c:pt>
            </c:strLit>
          </c:cat>
          <c:val>
            <c:numLit>
              <c:formatCode>General</c:formatCode>
              <c:ptCount val="2"/>
              <c:pt idx="0">
                <c:v>45.64</c:v>
              </c:pt>
              <c:pt idx="1">
                <c:v>54.13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Unsafe (%)</c:v>
          </c:tx>
          <c:spPr>
            <a:solidFill xmlns:a="http://schemas.openxmlformats.org/drawingml/2006/main">
              <a:srgbClr val="3D8DF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Trust ceiling</c:v>
              </c:pt>
              <c:pt idx="1">
                <c:v>Voting @ same coverage</c:v>
              </c:pt>
            </c:strLit>
          </c:cat>
          <c:val>
            <c:numLit>
              <c:formatCode>General</c:formatCode>
              <c:ptCount val="2"/>
              <c:pt idx="0">
                <c:v>6.04</c:v>
              </c:pt>
              <c:pt idx="1">
                <c:v>4.87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FCD256A-2293-495F-A4AD-0AA5D705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复赛 · AI FOR RESEARCH · 开放探索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DCDA78D-44EC-439D-9397-191A5E13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OBS Trust Layer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37754A-3AB1-4975-B828-AEA58E0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让有限人工优先检查最危险的 AI 拾取，并探索安全自动化边界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D311AB7A-2206-40B5-8463-19DE373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akeaway">
            <a:extLst xmlns:a="http://schemas.openxmlformats.org/drawingml/2006/main">
              <a:ext uri="{FF2B5EF4-FFF2-40B4-BE49-F238E27FC236}">
                <a16:creationId xmlns:a16="http://schemas.microsoft.com/office/drawing/2014/main" id="{24609D93-216F-440A-8994-8E9F9A5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50%复核预算截获83.6%错误；EXP17-A恢复Coverage至54.13%，Unsafe 5.51%；CI级非劣未建立。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2DBAA4AA-5D64-4CB3-8793-01C3981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EXP16 Review Efficiency · EXP17 Failure-driven Refinement · 1306 phase units</a:t>
            </a:r>
          </a:p>
        </p:txBody>
      </p:sp>
    </p:spTree>
    <p:extLst>
      <p:ext uri="{BB962C8B-B14F-4D97-AF65-F5344CB8AC3E}">
        <p14:creationId xmlns:p14="http://schemas.microsoft.com/office/powerpoint/2010/main" val="189988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0A7D5500-BB20-4E5C-B3D7-2820DA02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D7B1EDE-BB70-4615-90E6-3D5FE49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真正的问题不是“模型准不准”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EA85E651-77AA-46A8-BA89-A254E350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stakes-question">
            <a:extLst xmlns:a="http://schemas.openxmlformats.org/drawingml/2006/main">
              <a:ext uri="{FF2B5EF4-FFF2-40B4-BE49-F238E27FC236}">
                <a16:creationId xmlns:a16="http://schemas.microsoft.com/office/drawing/2014/main" id="{55F58572-96C5-4913-B291-CB823CCA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哪些 AI 输出可以自动进入后续地震科研流程，哪些必须交给专家？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67F717-3294-4FD4-B6DE-F7BE48C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自动放行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F4B0896-557D-439C-951E-A9BBC786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只看 confidence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A42F617-54FD-4798-8899-C45A593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人工复核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20F9A9B-ADBF-42EB-940A-686894FC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随机抽样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0DBAD4D-C4FF-4984-B3E4-51B37171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提升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AD605A3-15F0-453C-B132-C592297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5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安全已证明</a:t>
            </a:r>
          </a:p>
        </p:txBody>
      </p:sp>
      <p:sp>
        <p:nvSpPr>
          <p:cNvPr id="11" name="stakes-answer">
            <a:extLst xmlns:a="http://schemas.openxmlformats.org/drawingml/2006/main">
              <a:ext uri="{FF2B5EF4-FFF2-40B4-BE49-F238E27FC236}">
                <a16:creationId xmlns:a16="http://schemas.microsoft.com/office/drawing/2014/main" id="{983180E4-1AB0-4B4B-8FA1-8F4C8DEE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RQ2：严格策略导致 Coverage 受限时，能否用推理时可见证据恢复自动处理，同时保持安全边界与复核排序？</a:t>
            </a:r>
          </a:p>
        </p:txBody>
      </p:sp>
    </p:spTree>
    <p:extLst>
      <p:ext uri="{BB962C8B-B14F-4D97-AF65-F5344CB8AC3E}">
        <p14:creationId xmlns:p14="http://schemas.microsoft.com/office/powerpoint/2010/main" val="1372376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3">
            <a:extLst xmlns:a="http://schemas.openxmlformats.org/drawingml/2006/main">
              <a:ext uri="{FF2B5EF4-FFF2-40B4-BE49-F238E27FC236}">
                <a16:creationId xmlns:a16="http://schemas.microsoft.com/office/drawing/2014/main" id="{9B1D6AF7-F595-4691-ACB4-F691E4B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70209B1-B3B7-4C36-A9CB-F0A3F923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三项成果，分别回答效率、能力与边界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5C91806-2EA3-4A3B-826B-7FC9607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1EFB60-CE5B-4520-88C6-0FB6030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Review efficiency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A29C95-F34D-427E-B0A3-A114EEC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BDAECC1-3E0B-447B-8CCB-6F81376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50%预算：Trust 83.6%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Random 50.0%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 +33.6pp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95% CI [+19.0,+35.65]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F88C07-7E63-4970-86FD-CD1470F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Automation coverage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99EDFA1-2B8A-4B53-9A1C-6AC0EFB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9C4C1F-30FC-4C94-87F1-CBFCFBAB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v1.5.1  45.64%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EXP17-A  54.13%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Unsafe  5.51%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相对提升约18.6%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888C96-0C12-4777-8528-A468B74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Safety boundary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D0684-FF8C-4788-AC0F-B52581CE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F1BFF9-0054-40FA-9D0D-E7BDBDE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 +0.92pp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 +2.24pp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最终裁决界值</a:t>
            </a: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  +2.0pp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非劣未确认</a:t>
            </a:r>
          </a:p>
        </p:txBody>
      </p:sp>
      <p:sp>
        <p:nvSpPr>
          <p:cNvPr id="13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F3CB865B-89A6-4943-9094-1E3F9F7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recovery supported; safety non-inferiority inconclusive.</a:t>
            </a:r>
          </a:p>
        </p:txBody>
      </p:sp>
    </p:spTree>
    <p:extLst>
      <p:ext uri="{BB962C8B-B14F-4D97-AF65-F5344CB8AC3E}">
        <p14:creationId xmlns:p14="http://schemas.microsoft.com/office/powerpoint/2010/main" val="1418047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固定复核预算下，Trust 更早截获错误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0f4f50050b45ae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83.6%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50% review budget 下的全量错误截获率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47% review 即截获 80%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Trust−Random @50 = +33.6pp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station bootstrap CI [+19.0,+35.65]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全预算：8.7→17.4→34.5→51.2→83.6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Error Interception 必须与 Review Burden 配对解释；不等价于实际劳动成本下降。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8">
            <a:extLst xmlns:a="http://schemas.openxmlformats.org/drawingml/2006/main">
              <a:ext uri="{FF2B5EF4-FFF2-40B4-BE49-F238E27FC236}">
                <a16:creationId xmlns:a16="http://schemas.microsoft.com/office/drawing/2014/main" id="{27C43BA1-E266-46A0-8B5C-BF1FFDF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9C30E09-9971-40F8-A0E8-408A0B1A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Holdout 上，Trust 排序优势仍保持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544F0E5E-08AA-44FE-BDE2-7C72F6F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7239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f02bc0311f45e2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D0C43DF-C583-401D-AC64-47E5BB9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80.1%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3DE31B8-A9C0-427F-8D3B-970D6F68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Trust @ 50% review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Random 49.9% · ModelConf 56.5%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Disagreement 59.0%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DD134BB-3B5D-438C-AD55-67F8FC09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46DF678-216F-4745-88C9-0625495C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Primary eval holdout n=260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errors=161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一致性佐证，不是独立 locked test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F3673A3-55CF-4BC2-A183-B5394118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358 是全部 manifest holdout；正式 phase-level eligible subset 为 260，分母必须统一。</a:t>
            </a:r>
          </a:p>
        </p:txBody>
      </p:sp>
    </p:spTree>
    <p:extLst>
      <p:ext uri="{BB962C8B-B14F-4D97-AF65-F5344CB8AC3E}">
        <p14:creationId xmlns:p14="http://schemas.microsoft.com/office/powerpoint/2010/main" val="888950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4">
            <a:extLst xmlns:a="http://schemas.openxmlformats.org/drawingml/2006/main">
              <a:ext uri="{FF2B5EF4-FFF2-40B4-BE49-F238E27FC236}">
                <a16:creationId xmlns:a16="http://schemas.microsoft.com/office/drawing/2014/main" id="{15399461-3E0C-45DE-AB42-7D23410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4581C52-5BD5-4E8C-8521-24D1484D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天花板主要来自 policy conservatism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6BFF2D92-2F62-4CC1-B8C7-DEDE5D3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metric-OBS records">
            <a:extLst xmlns:a="http://schemas.openxmlformats.org/drawingml/2006/main">
              <a:ext uri="{FF2B5EF4-FFF2-40B4-BE49-F238E27FC236}">
                <a16:creationId xmlns:a16="http://schemas.microsoft.com/office/drawing/2014/main" id="{92E9869E-B934-4141-8F33-DCDEE0FA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703</a:t>
            </a:r>
          </a:p>
        </p:txBody>
      </p:sp>
      <p:sp>
        <p:nvSpPr>
          <p:cNvPr id="5" name="metric-label-OBS records">
            <a:extLst xmlns:a="http://schemas.openxmlformats.org/drawingml/2006/main">
              <a:ext uri="{FF2B5EF4-FFF2-40B4-BE49-F238E27FC236}">
                <a16:creationId xmlns:a16="http://schemas.microsoft.com/office/drawing/2014/main" id="{704281C6-9139-4A87-A3B9-E44AC44C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non-auto actions</a:t>
            </a:r>
          </a:p>
        </p:txBody>
      </p:sp>
      <p:sp>
        <p:nvSpPr>
          <p:cNvPr id="6" name="metric-phase-level units">
            <a:extLst xmlns:a="http://schemas.openxmlformats.org/drawingml/2006/main">
              <a:ext uri="{FF2B5EF4-FFF2-40B4-BE49-F238E27FC236}">
                <a16:creationId xmlns:a16="http://schemas.microsoft.com/office/drawing/2014/main" id="{E52776C7-0900-4628-BFF6-EE41916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487</a:t>
            </a:r>
          </a:p>
        </p:txBody>
      </p:sp>
      <p:sp>
        <p:nvSpPr>
          <p:cNvPr id="7" name="metric-label-phase-level units">
            <a:extLst xmlns:a="http://schemas.openxmlformats.org/drawingml/2006/main">
              <a:ext uri="{FF2B5EF4-FFF2-40B4-BE49-F238E27FC236}">
                <a16:creationId xmlns:a16="http://schemas.microsoft.com/office/drawing/2014/main" id="{A2E64E33-A546-41F7-A1BA-DEBC51E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INSUFFICIENT EVIDENCE</a:t>
            </a:r>
          </a:p>
        </p:txBody>
      </p:sp>
      <p:sp>
        <p:nvSpPr>
          <p:cNvPr id="8" name="metric-stations">
            <a:extLst xmlns:a="http://schemas.openxmlformats.org/drawingml/2006/main">
              <a:ext uri="{FF2B5EF4-FFF2-40B4-BE49-F238E27FC236}">
                <a16:creationId xmlns:a16="http://schemas.microsoft.com/office/drawing/2014/main" id="{6B51ECC6-186B-4A88-8713-5A2DE32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112</a:t>
            </a:r>
          </a:p>
        </p:txBody>
      </p:sp>
      <p:sp>
        <p:nvSpPr>
          <p:cNvPr id="9" name="metric-label-stations">
            <a:extLst xmlns:a="http://schemas.openxmlformats.org/drawingml/2006/main">
              <a:ext uri="{FF2B5EF4-FFF2-40B4-BE49-F238E27FC236}">
                <a16:creationId xmlns:a16="http://schemas.microsoft.com/office/drawing/2014/main" id="{AEDA0E0E-B683-43ED-81A2-0A4E3FA9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consensus / no FUSE</a:t>
            </a:r>
          </a:p>
        </p:txBody>
      </p:sp>
      <p:sp>
        <p:nvSpPr>
          <p:cNvPr id="10" name="metric-frozen checkpoints">
            <a:extLst xmlns:a="http://schemas.openxmlformats.org/drawingml/2006/main">
              <a:ext uri="{FF2B5EF4-FFF2-40B4-BE49-F238E27FC236}">
                <a16:creationId xmlns:a16="http://schemas.microsoft.com/office/drawing/2014/main" id="{C98E13DA-3BB8-44E9-BABA-E39FAAB3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66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57</a:t>
            </a:r>
          </a:p>
        </p:txBody>
      </p:sp>
      <p:sp>
        <p:nvSpPr>
          <p:cNvPr id="11" name="metric-label-frozen checkpoints">
            <a:extLst xmlns:a="http://schemas.openxmlformats.org/drawingml/2006/main">
              <a:ext uri="{FF2B5EF4-FFF2-40B4-BE49-F238E27FC236}">
                <a16:creationId xmlns:a16="http://schemas.microsoft.com/office/drawing/2014/main" id="{6806E7F1-1B1C-4CEC-AEE9-6D09EF24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picks to reach 50%</a:t>
            </a:r>
          </a:p>
        </p:txBody>
      </p:sp>
      <p:sp>
        <p:nvSpPr>
          <p:cNvPr id="12" name="models-list">
            <a:extLst xmlns:a="http://schemas.openxmlformats.org/drawingml/2006/main">
              <a:ext uri="{FF2B5EF4-FFF2-40B4-BE49-F238E27FC236}">
                <a16:creationId xmlns:a16="http://schemas.microsoft.com/office/drawing/2014/main" id="{B9DAAF95-4842-4BD2-B205-E1BCA5ED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487 中：430 至少一个模型正确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312 所有模型均正确（仅诊断）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112 中：105 至少一个模型正确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89 所有模型均正确（仅诊断）</a:t>
            </a:r>
          </a:p>
        </p:txBody>
      </p:sp>
      <p:sp>
        <p:nvSpPr>
          <p:cNvPr id="13" name="config-list">
            <a:extLst xmlns:a="http://schemas.openxmlformats.org/drawingml/2006/main">
              <a:ext uri="{FF2B5EF4-FFF2-40B4-BE49-F238E27FC236}">
                <a16:creationId xmlns:a16="http://schemas.microsoft.com/office/drawing/2014/main" id="{E3087ACB-7A2F-4D2F-86BC-B1943A52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101 / 112 已满足 FUSE floor .70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但无法通过证据准入 / routing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 个 invalid ROUTE 属 bugfix track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不能计作算法贡献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67C679B-7757-4450-9CBF-D99DD99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边界：312 / 89 只能用于事后诊断；不得作为 EXP17 routing rule 的输入。</a:t>
            </a:r>
          </a:p>
        </p:txBody>
      </p:sp>
    </p:spTree>
    <p:extLst>
      <p:ext uri="{BB962C8B-B14F-4D97-AF65-F5344CB8AC3E}">
        <p14:creationId xmlns:p14="http://schemas.microsoft.com/office/powerpoint/2010/main" val="404122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EXP17-A：Coverage 恢复，但安全非劣未确认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d294ca4b014529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54.13%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Coverage · c1 PASS · Unsafe 5.51%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c2 NOT ESTABLISHED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点估计 +0.92pp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+2.24pp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高于 +2.0pp 界 0.24pp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c3 PASS 94.26% · c4 PASS 4.17→9.14→28.57；显式参数重跑完全一致，76/76 tests passed。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8B61321B-0949-446F-8B8C-BCCFB739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AD68979D-BE27-406A-BF50-EAC0342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35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最终 Scientific Claim：排序成立，Coverage 恢复，安全边界如实保留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86325B1B-F5D6-4CBB-81C1-45D05BA4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75DE51-B0EE-46B9-BD46-16499E73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“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9DFBE03-3EA1-48DB-9BB7-44E61E86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981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95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在固定 OBS 数据、冻结模型与统一相位级协议下，组合风险证据能够用于人工复核优先级排序，并在 holdout Primary 子集中保持方向一致的错误拦截优势；v1.5.1 存在明显 policy ceiling，truth-blind EXP17-A 将 Coverage 恢复至 54.13%，Unsafe 为 5.51%，但按最终裁决的 +2pp 界，CI 级安全非劣尚未统计确认。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FEE2F14-F908-4453-ACD6-0F4D835F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14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”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F26834-3CAD-4355-BC58-F2C833A8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贡献 1 · reliability evidence admission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贡献 2 · review prioritization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5C2E026-2735-4770-9857-7A089078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贡献 3 · failure-driven policy refinement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负结果与边界同步保留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9DA3ADA-D709-42A8-943E-D3F7E6D5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最终口径：Coverage recovery supported; safety non-inferiority inconclusive. 显式参数重跑完全一致。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658103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E2BE620-6C98-4B74-AE77-98D34355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Trust Layer 的价值，不是让 AI “更敢自动”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6573405-01B2-4AD4-9750-FACB8EE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8C35347-01AA-41D3-B263-6735A654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自动化边界可测：Coverage / Unsafe / CI 同时报告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C9D978F-C322-4DB2-8B91-015BC999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430CD97-44B5-41AC-85E6-69AEB1CA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人工注意力可控：有限预算优先拦截高风险输出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A0FB75D-6425-470F-92DB-DC47BB5D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9C7B91-2533-4228-A03E-5986CF6B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科研证据可复现：负结果、bugfix、refinement 分轨留痕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F2D3B23-17F8-4EDF-92BB-A8EE906D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ADE25FE-274F-4B4C-B46B-DDD5C87D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而是让自动化边界和人工注意力分配都可测、可控、可复现。</a:t>
            </a:r>
          </a:p>
        </p:txBody>
      </p:sp>
    </p:spTree>
    <p:extLst>
      <p:ext uri="{BB962C8B-B14F-4D97-AF65-F5344CB8AC3E}">
        <p14:creationId xmlns:p14="http://schemas.microsoft.com/office/powerpoint/2010/main" val="446661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v1.5.1 冻结结果：严格策略先暴露 policy ceiling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385ad4bf5347d1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45.64%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596 / 1306 个真实 selected_pick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NOT_EVALUABLE @ 50%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560 correct / 36 wrong / 710 no_pick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天花板 ΔUnsafe +1.17pp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95% CI [−1.09,+2.93]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S 相更差：Δ +3.39pp，CI [+0.90,+5.96]；原负结果保留，不被 EXP17 覆盖。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3">
            <a:extLst xmlns:a="http://schemas.openxmlformats.org/drawingml/2006/main">
              <a:ext uri="{FF2B5EF4-FFF2-40B4-BE49-F238E27FC236}">
                <a16:creationId xmlns:a16="http://schemas.microsoft.com/office/drawing/2014/main" id="{9B1D6AF7-F595-4691-ACB4-F691E4B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70209B1-B3B7-4C36-A9CB-F0A3F923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EXP17 是 post-hoc、failure-driven refinement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5C91806-2EA3-4A3B-826B-7FC9607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1EFB60-CE5B-4520-88C6-0FB6030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Gate 1 · Coverage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A29C95-F34D-427E-B0A3-A114EEC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BDAECC1-3E0B-447B-8CCB-6F81376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真实 selected_pick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Coverage ≥ 50.0%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伪 ROUTE 不得计数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按 phase unit 复算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F88C07-7E63-4970-86FD-CD1470F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Gate 2 · Safety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99EDFA1-2B8A-4B53-9A1C-6AC0EFB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9C4C1F-30FC-4C94-87F1-CBFCFBAB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= EXP17@50 − Voting@50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station-cluster bootstrap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60 stations · 1000 次 · seed 42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&lt; +2.0pp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888C96-0C12-4777-8528-A468B74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Gate 3 · Truth blindness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D0684-FF8C-4788-AC0F-B52581CE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F1BFF9-0054-40FA-9D0D-E7BDBDE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允许：consensus structure / survivor count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spread / calibrated confidence / phase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historical reliability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禁止：当前 evaluation truth</a:t>
            </a:r>
          </a:p>
        </p:txBody>
      </p:sp>
      <p:sp>
        <p:nvSpPr>
          <p:cNvPr id="13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F3CB865B-89A6-4943-9094-1E3F9F7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最终裁决协议：点估计≤+1pp仅为内部绿灯；正式统计标准为单侧上界 &lt; +2.0pp。</a:t>
            </a:r>
          </a:p>
        </p:txBody>
      </p:sp>
    </p:spTree>
    <p:extLst>
      <p:ext uri="{BB962C8B-B14F-4D97-AF65-F5344CB8AC3E}">
        <p14:creationId xmlns:p14="http://schemas.microsoft.com/office/powerpoint/2010/main" val="1418047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1">
            <a:extLst xmlns:a="http://schemas.openxmlformats.org/drawingml/2006/main">
              <a:ext uri="{FF2B5EF4-FFF2-40B4-BE49-F238E27FC236}">
                <a16:creationId xmlns:a16="http://schemas.microsoft.com/office/drawing/2014/main" id="{750B6E97-79F1-402C-AF85-60879F57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101DBCC2-88FC-4CCD-8FD7-C5FCFE30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探索环境抓住问题本质：固定边界、搜索策略、反馈验证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79224204-4221-4C47-B5EA-F9264504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D4635C2-FD24-4A1B-82E2-D5655CB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Fixed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D46036D-503F-4AB0-BBFE-80CC0F05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数据 / 模型 / 评价单元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truth-blind 信息边界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指标、seed 与 verifier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版本化冻结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01D87E9-D413-42E9-A261-FD6C70E9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0C8079-DB09-4E52-8FF9-E0493EE2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当前 evaluation truth 对 routing 不可见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5D99264-3197-4CCA-A16D-4A9B3CAB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Searchable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9DA734E-0494-45E5-81CF-24594808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evidence admission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risk aggregation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route / fuse / abstain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consensus structure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477A447-8775-4844-8DEB-F5E92B9C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589C2DD-50AB-49A1-A267-5779EF93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每次变更形成新实验版本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EE041FA-645C-41EA-A900-99DEF9BC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Feedback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179D90F-1E39-4D2E-BCC4-30680FCC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/ Unsafe / CI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Error Interception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reason decomposition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counterexample / No-Go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40AD92F-8D55-4145-9944-2BABFB2D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AF3A4F5-3BEF-4168-A1D5-D45FAF85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反馈只用于下一轮假设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91EDC9C-4FBF-4ECE-B9AC-61F643E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Agent 观察证据、执行策略实验、接收 verifier 反馈；evaluation truth 不作为 routing 输入。</a:t>
            </a:r>
          </a:p>
        </p:txBody>
      </p:sp>
    </p:spTree>
    <p:extLst>
      <p:ext uri="{BB962C8B-B14F-4D97-AF65-F5344CB8AC3E}">
        <p14:creationId xmlns:p14="http://schemas.microsoft.com/office/powerpoint/2010/main" val="20197268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0">
            <a:extLst xmlns:a="http://schemas.openxmlformats.org/drawingml/2006/main">
              <a:ext uri="{FF2B5EF4-FFF2-40B4-BE49-F238E27FC236}">
                <a16:creationId xmlns:a16="http://schemas.microsoft.com/office/drawing/2014/main" id="{D7DACC3D-C768-4D5E-91CD-CE13A526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D4E1527-9CD5-423C-92D2-EEBB944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反例提醒：多数一致仍会覆盖正确的单模型 pick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684A217C-3F1F-4617-9ED5-CA9C2391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A4</a:t>
            </a:r>
          </a:p>
        </p:txBody>
      </p:sp>
      <p:sp>
        <p:nvSpPr>
          <p:cNvPr id="4" name="metric-failure rows = 710 no_pick + 36 wrong">
            <a:extLst xmlns:a="http://schemas.openxmlformats.org/drawingml/2006/main">
              <a:ext uri="{FF2B5EF4-FFF2-40B4-BE49-F238E27FC236}">
                <a16:creationId xmlns:a16="http://schemas.microsoft.com/office/drawing/2014/main" id="{E5E0EB93-A6C5-4783-B999-1D3E981A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746</a:t>
            </a:r>
          </a:p>
        </p:txBody>
      </p:sp>
      <p:sp>
        <p:nvSpPr>
          <p:cNvPr id="5" name="metric-label-failure rows = 710 no_pick + 36 wrong">
            <a:extLst xmlns:a="http://schemas.openxmlformats.org/drawingml/2006/main">
              <a:ext uri="{FF2B5EF4-FFF2-40B4-BE49-F238E27FC236}">
                <a16:creationId xmlns:a16="http://schemas.microsoft.com/office/drawing/2014/main" id="{8057ED86-4216-4836-85ED-F89F3B17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failure rows = 710 no_pick + 36 wrong</a:t>
            </a:r>
          </a:p>
        </p:txBody>
      </p:sp>
      <p:sp>
        <p:nvSpPr>
          <p:cNvPr id="6" name="metric-wrong outputs 中至少一个单模型正确">
            <a:extLst xmlns:a="http://schemas.openxmlformats.org/drawingml/2006/main">
              <a:ext uri="{FF2B5EF4-FFF2-40B4-BE49-F238E27FC236}">
                <a16:creationId xmlns:a16="http://schemas.microsoft.com/office/drawing/2014/main" id="{98471304-4011-40B4-AFD0-2BA66053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7" name="metric-label-wrong outputs 中至少一个单模型正确">
            <a:extLst xmlns:a="http://schemas.openxmlformats.org/drawingml/2006/main">
              <a:ext uri="{FF2B5EF4-FFF2-40B4-BE49-F238E27FC236}">
                <a16:creationId xmlns:a16="http://schemas.microsoft.com/office/drawing/2014/main" id="{669F49B7-FC12-461D-9020-F1CF12E9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wrong outputs 中至少一个单模型正确</a:t>
            </a:r>
          </a:p>
        </p:txBody>
      </p:sp>
      <p:sp>
        <p:nvSpPr>
          <p:cNvPr id="8" name="metric-&gt;30 s errors，全部为 S 相">
            <a:extLst xmlns:a="http://schemas.openxmlformats.org/drawingml/2006/main">
              <a:ext uri="{FF2B5EF4-FFF2-40B4-BE49-F238E27FC236}">
                <a16:creationId xmlns:a16="http://schemas.microsoft.com/office/drawing/2014/main" id="{4646CBFF-9857-4C32-A017-EF0003F7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9" name="metric-label-&gt;30 s errors，全部为 S 相">
            <a:extLst xmlns:a="http://schemas.openxmlformats.org/drawingml/2006/main">
              <a:ext uri="{FF2B5EF4-FFF2-40B4-BE49-F238E27FC236}">
                <a16:creationId xmlns:a16="http://schemas.microsoft.com/office/drawing/2014/main" id="{2902050E-020B-4481-BDAD-07399A2B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&gt;30 s errors，全部为 S 相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5D8B4B-37BE-432E-95A1-E059690C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代表性 shared-error case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2374CC1-B3F7-4E51-AF4F-2852248D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XO.LT04..HH.2018.07.12.08.32.02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0DD275E-9D61-4757-8E39-4FE55F4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S truth 44.99 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6BA7EE5-F677-46C8-B53B-4F557B3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00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FUSE 142.61 s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14A82B-61EE-4EB1-94E2-7FC10063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005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rPr>
              <a:t>EQT 44.84 s（正确）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3A41883-B8C6-4581-AE9E-67AB1D0C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结论：Consensus Route 也必须服从 Safety Gate；“多数一致”本身不是可靠性保证。</a:t>
            </a:r>
          </a:p>
        </p:txBody>
      </p:sp>
    </p:spTree>
    <p:extLst>
      <p:ext uri="{BB962C8B-B14F-4D97-AF65-F5344CB8AC3E}">
        <p14:creationId xmlns:p14="http://schemas.microsoft.com/office/powerpoint/2010/main" val="12141863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6">
            <a:extLst xmlns:a="http://schemas.openxmlformats.org/drawingml/2006/main">
              <a:ext uri="{FF2B5EF4-FFF2-40B4-BE49-F238E27FC236}">
                <a16:creationId xmlns:a16="http://schemas.microsoft.com/office/drawing/2014/main" id="{9890D828-8251-47DA-BB21-0EAC5902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7F84B3E-13BF-4DE2-AD42-3D75C225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开放探索闭环：发现 → 解释 → 修正 → 再验证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AB37782B-4D81-4FEC-942D-DB76F1E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A5</a:t>
            </a:r>
          </a:p>
        </p:txBody>
      </p:sp>
      <p:sp>
        <p:nvSpPr>
          <p:cNvPr id="4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C3D8ED5D-9761-4AAD-8C7E-103F52F4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CDF342-35F5-4732-B54C-6E429DC8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DBF876B-D565-4C55-8994-9DAB4DF6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v1.5.1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0D07381-BB1E-4739-8516-9126819C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冻结负结果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660CD82-41AB-4132-B202-8CD47815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45.64% 天花板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DS1 并列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 相显著更差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07F69D6-C43C-4045-8703-F94D219F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122C053-9EAD-4909-8137-03C2178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Implementation audit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4FD8BF1-3806-470D-BD23-A0763EE4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Bugfix baseline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2CB5F25-4C3E-4AD0-B4B3-531E719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 个 invalid ROUTE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单独修复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核心指标不变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222ABD-6386-46F7-8BDD-F63AB1E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2077C4-0C2D-4A36-803C-58B95804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Failure decomposition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600A7E2-B8A0-45E1-8876-D686E586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Policy ceiling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0A56460-D2D2-475F-9EB8-091D8E4E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703 个未自动输出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定位 4.5 / 5 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57 即可到 50%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B16FE01-C8BF-439C-992C-4A28E9C6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163FBA2-10B2-44AB-9B97-59A7CAE8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EXP17-A / B + Audit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18317A7-2BF3-4719-8656-6E9A8240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修正与再验证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1AE642D-0A4B-408A-96F3-35447B23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A 为最佳候选：54.13%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B 双败否决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c2 未建立，不作部署结论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AF1D3F1-FCCA-4131-A617-0B25AC35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v1.5.1 → implementation audit → bugfix baseline → failure decomposition → A/B → final parameter audit；bugfix ≠ 算法贡献。</a:t>
            </a:r>
          </a:p>
        </p:txBody>
      </p:sp>
    </p:spTree>
    <p:extLst>
      <p:ext uri="{BB962C8B-B14F-4D97-AF65-F5344CB8AC3E}">
        <p14:creationId xmlns:p14="http://schemas.microsoft.com/office/powerpoint/2010/main" val="60966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14">
            <a:extLst xmlns:a="http://schemas.openxmlformats.org/drawingml/2006/main">
              <a:ext uri="{FF2B5EF4-FFF2-40B4-BE49-F238E27FC236}">
                <a16:creationId xmlns:a16="http://schemas.microsoft.com/office/drawing/2014/main" id="{C9375F19-BA37-4A81-A76D-6051BDF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BFA3A8BE-CF76-48D0-8D24-D363A6DB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可复现与开源：公开仓库、统一入口、证据链</a:t>
            </a:r>
          </a:p>
        </p:txBody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FC75D319-EFF6-4803-9E9C-99F5A9B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A6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8834EE9-AB9B-4C86-ADD1-79DAC3A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F4AAA9-C7A1-4EAD-A8DD-47B9C984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层级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A596960-1C83-43C7-9DF1-B63B61D8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192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已形成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423188-FB35-4221-BF66-B06821D0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192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最终冻结证据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7A3A83F-C382-45D3-A1F1-2E8158F3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02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3CA2465-5B5D-4103-8720-71E0FAF1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02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ADEA6A-494F-4F2D-8D64-DD47A4FE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717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公开仓库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88E55B1-F191-4E08-86CC-B8ECD3BF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717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github.com/Robin-060/AIGOproject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E346730-98A3-4EC3-8DA7-01A0BE6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71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最终 tag + commit 固定身份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59ED192-57CF-476D-9478-E52C9968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004025E-C827-4284-9C59-46153DC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479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54E6AE7-20C4-495F-A4CC-6272BA6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一键复现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993FEE6-A876-4E98-9B30-FF24F446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smoke_test.sh + reproduce_core.sh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1385A0D-697F-4534-9A92-464DBF84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194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EXP17: reproduce_exp17.sh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4B58F6-9DDF-4E5C-974A-F3DDFCB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956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E3EC4CD-6C09-4B10-8D79-4B477CC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956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10F4EE3-E926-4E62-9308-7A9F50C2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可复用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B200C46-571F-4845-B5F4-EFA2369A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67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Trust Engine / benchmark / evaluators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3701CA8-7B43-474F-B37D-2E7C21DE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adapters + reason codes + baselines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3DBED73-ECB7-4A84-85F7-316C5D6D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AAF363D-E906-4DBC-A02F-2AB9AFA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433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92A453E-BDB4-460A-9993-BB0CC444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证据链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D0867F7-1814-4F46-B778-28A0AC00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config → trajectory → results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8451969-C0EC-4CE2-9E1B-0895E819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14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54.13 / 5.51 / 94.26；c2未建立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24B4442-402D-4D9C-9C1D-10117229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0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E5394C8-2E13-42FC-8B73-6518AE8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910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B7DBD4-A94F-44BF-95F0-FC4C6C2D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许可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4B2E71F-D7CE-463A-A8D2-EB7A6C31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625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THIRD_PARTY_NOTICES.md + SBOM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9C412C8-0CE8-4248-AE74-5B6A3C2C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625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外部数据 / 权重不重新分发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4C9299-B74C-4DCF-B7DB-8709DA95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MIT 仅覆盖团队代码；OBS 数据 CC BY 4.0；SeisBench GPL-3.0；模型权重不随仓库分发。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正式提交以通过全量验收的不可变 release tag / commit 为唯一身份。</a:t>
            </a:r>
          </a:p>
        </p:txBody>
      </p:sp>
    </p:spTree>
    <p:extLst>
      <p:ext uri="{BB962C8B-B14F-4D97-AF65-F5344CB8AC3E}">
        <p14:creationId xmlns:p14="http://schemas.microsoft.com/office/powerpoint/2010/main" val="9855476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3">
            <a:extLst xmlns:a="http://schemas.openxmlformats.org/drawingml/2006/main">
              <a:ext uri="{FF2B5EF4-FFF2-40B4-BE49-F238E27FC236}">
                <a16:creationId xmlns:a16="http://schemas.microsoft.com/office/drawing/2014/main" id="{A6D9AC37-153E-437E-A514-40E3DD85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64C5842B-063F-4FC3-82D6-E6B41FEA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结论必须和局限一起提交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D382F685-B409-4FFA-8CF8-F3BEB47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A7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A2E0977-84A0-4EBA-A6C5-D3F542CA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rPr>
              <a:t>可以声称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BF98D06-3EDC-468A-8B90-A9FF3BB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572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探索性、可追溯验证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固定预算下的错误排序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同数据集不同台阵 holdout 一致性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EXP17-A 的 Coverage 恢复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安全非劣接近但未确认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232FDAD-BC26-4649-A03D-53840CF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不能声称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F7B4510-7A2C-4EED-B479-673F536E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严格预注册确证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独立 locked test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跨数据集普适泛化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risk 是错误概率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生产部署或自主科研 Agent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 是原始预声明实验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1D26FA-9A82-4E58-B7B9-6085EB46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966951-27E1-41FB-ACE2-2FB8B203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不把 review coverage 下降直接等价为实际劳动成本下降；CI 级非劣性仍需更大样本确认。</a:t>
            </a:r>
          </a:p>
        </p:txBody>
      </p:sp>
    </p:spTree>
    <p:extLst>
      <p:ext uri="{BB962C8B-B14F-4D97-AF65-F5344CB8AC3E}">
        <p14:creationId xmlns:p14="http://schemas.microsoft.com/office/powerpoint/2010/main" val="1233156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2026-09-03T08:29:31.8850000Z</dcterms:created>
  <dcterms:modified xsi:type="dcterms:W3CDTF">2026-09-03T08:29:31.8850000Z</dcterms:modified>
</coreProperties>
</file>